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72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uk-UA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Виконано</c:v>
                </c:pt>
              </c:strCache>
            </c:strRef>
          </c:tx>
          <c:spPr>
            <a:solidFill>
              <a:srgbClr val="34C759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Пн</c:v>
                </c:pt>
                <c:pt idx="1">
                  <c:v>Вт</c:v>
                </c:pt>
                <c:pt idx="2">
                  <c:v>Ср</c:v>
                </c:pt>
                <c:pt idx="3">
                  <c:v>Чт</c:v>
                </c:pt>
                <c:pt idx="4">
                  <c:v>Пт</c:v>
                </c:pt>
                <c:pt idx="5">
                  <c:v>Сб</c:v>
                </c:pt>
                <c:pt idx="6">
                  <c:v>Нд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</c:v>
                </c:pt>
                <c:pt idx="1">
                  <c:v>3</c:v>
                </c:pt>
                <c:pt idx="2">
                  <c:v>1</c:v>
                </c:pt>
                <c:pt idx="3">
                  <c:v>4</c:v>
                </c:pt>
                <c:pt idx="4">
                  <c:v>2</c:v>
                </c:pt>
                <c:pt idx="5">
                  <c:v>1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55C-422C-8458-300D8E3DD14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Заплановано</c:v>
                </c:pt>
              </c:strCache>
            </c:strRef>
          </c:tx>
          <c:spPr>
            <a:solidFill>
              <a:srgbClr val="3B9EFF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Пн</c:v>
                </c:pt>
                <c:pt idx="1">
                  <c:v>Вт</c:v>
                </c:pt>
                <c:pt idx="2">
                  <c:v>Ср</c:v>
                </c:pt>
                <c:pt idx="3">
                  <c:v>Чт</c:v>
                </c:pt>
                <c:pt idx="4">
                  <c:v>Пт</c:v>
                </c:pt>
                <c:pt idx="5">
                  <c:v>Сб</c:v>
                </c:pt>
                <c:pt idx="6">
                  <c:v>Нд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</c:v>
                </c:pt>
                <c:pt idx="1">
                  <c:v>1</c:v>
                </c:pt>
                <c:pt idx="2">
                  <c:v>2</c:v>
                </c:pt>
                <c:pt idx="3">
                  <c:v>1</c:v>
                </c:pt>
                <c:pt idx="4">
                  <c:v>2</c:v>
                </c:pt>
                <c:pt idx="5">
                  <c:v>1</c:v>
                </c:pt>
                <c:pt idx="6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55C-422C-8458-300D8E3DD1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B"/>
                </a:solidFill>
                <a:latin typeface="Arial"/>
              </a:defRPr>
            </a:pPr>
            <a:endParaRPr lang="uk-UA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B"/>
                </a:solidFill>
                <a:latin typeface="Arial"/>
              </a:defRPr>
            </a:pPr>
            <a:endParaRPr lang="uk-UA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5B6B7B"/>
              </a:solidFill>
            </a:defRPr>
          </a:pPr>
          <a:endParaRPr lang="uk-UA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8916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Доброго дня, шановні члени комісії! Мене звати Дарія Люкшина, студентка групи 641. Тема моєї дипломної роботи — «Розробка мобільного застосунку-планера з нагадуваннями». Керівник роботи — Максим Валерійович Шуляк. Результатом роботи є готовий кросплатформний застосунок PlannerApp, створений засобами React Native і TypeScript.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Актуальність теми зумовлена тим, що мобільний телефон став основним інструментом організації справ. Планувальників на ринку багато — Todoist, Google Tasks, Microsoft To Do — проте більшість із них обмежують безкоштовні версії, вимагають реєстрації або постійного підключення до Інтернету. Тому метою роботи стала розробка простого кросплатформного планера з нагадуваннями, який працює повністю локально й без реєстрації. Об'єктом дослідження є процес розробки такого застосунку засобами React Native і TypeScript, а предметом — методи реалізації керування завданнями та нагадуваннями.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Для досягнення мети я визначила такі завдання: проаналізувати предметну область і наявні аналоги; сформувати функціональні та нефункціональні вимоги; спроєктувати архітектуру застосунку й структуру зберігання даних; реалізувати CRUD-операції та інтерактивний календар; додати локальні нагадування, перемикання теми й мови, позначення завдань виконаними та екран статистики; і нарешті провести тестування й перевірити коректність роботи.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Порівняльний аналіз показав ключові переваги PlannerApp. На відміну від аналогів, він повністю безкоштовний, працює офлайн без реєстрації, має вбудований календар і повну підтримку української мови. Push-нагадування й темна тема доступні без обмежень — чого немає, наприклад, у безкоштовній версії Todoist або в Google Tasks. Саме ця незайнята ніша підтверджує доцільність розробки.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Технологічний стек обрано під вимоги. React Native забезпечив єдину кодову базу для Android і нативну продуктивність. TypeScript у суворому режимі дав раннє виявлення помилок ще на етапі компіляції. Expo надав доступ до нативних API без написання нативного коду. Дані зберігаються локально в AsyncStorage, нагадування реалізовано через expo-notifications, інтерактивний календар — бібліотекою react-native-calendars, а локалізація — через i18next.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Застосунок побудовано за трирівневою архітектурою. Рівень представлення — це екранні компоненти й навігація. Рівень бізнес-логіки — контекст теми, локалізація, планування сповіщень і валідація даних. Рівень даних — це AsyncStorage та модель завдання Task. Принципово, що жоден екран не працює зі сховищем напряму. Завдяки цьому сховище можна легко замінити, наприклад на SQLite, не змінюючи код інтерфейсу — це робить систему гнучкою та розширюваною.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Реалізовано повний заявлений функціонал. Це повний набір CRUD-операцій для керування завданнями; інтерактивний місячний календар із маркерами на датах із завданнями; локальні push-нагадування у заданий час; позначення завдань виконаними разом з екраном статистики; а також перемикання світлої й темної теми та двох мов інтерфейсу — української та англійської — без перезапуску застосунку.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Окремо виділю два ключові механізми. Перший — нагадування: при збереженні завдання планується локальне сповіщення з тригером типу 'date', а його ідентифікатор зберігається разом із завданням, щоб коректно скасувати сповіщення при редагуванні чи видаленні. Другий механізм — новий екран статистики виконання. Він показує загальний відсоток прогресу, показники за день і за тиждень та стовпчиковий графік за днями тижня, де зелена частина — виконані завдання, а синя — заплановані. Важливо, що статистика обчислюється з уже наявних даних, без змін у моделі, що додатково підтверджує гнучкість архітектури.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Проведено п'ять видів тестування — модульне, інтеграційне, системне, інтерфейсне та регресійне — на п'яти пристроях із версіями Android від 10 до 13. Усі чотирнадцять тест-кейсів отримали статус PASS. У процесі розробки було виявлено й виправлено двадцять п'ять помилок різного характеру. За продуктивністю: холодний запуск становить 2,3 секунди при вимозі до трьох, а відгук на дії користувача — 80–120 мілісекунд при вимозі до п'ятисот. Тобто всі нефункціональні вимоги виконано із запасом.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Отже, мету роботи досягнуто. Розроблено повнофункціональний офлайн-планер, що вирішує реальну щоденну задачу організації часу — без реєстрації та підключення до Інтернету. Реалізовано трирівневу архітектуру, локальні нагадування, екран статистики виконання та двомовний інтерфейс. Тестування підтвердило якість і продуктивність із запасом, тож застосунок готовий до публікації в Google Play. Дякую за увагу! Я готова відповісти на ваші запитання.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9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1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3B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ДИПЛОМНА РОБОТА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5669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Розробка мобільного застосунку-планера з нагадуваннями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278892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4C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PlannerApp</a:t>
            </a:r>
            <a:r>
              <a:rPr lang="en-US" sz="1600" dirty="0">
                <a:solidFill>
                  <a:srgbClr val="AB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React Native · TypeScript · Expo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370332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8FA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Виконала: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Люкшина Д. В., група 641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8FA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Керівник: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Шуляк М. В.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8FA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Васильківський фаховий коледж ДНП «ДУ «КАІ» · 2026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903720" y="868680"/>
            <a:ext cx="1783080" cy="3429000"/>
          </a:xfrm>
          <a:prstGeom prst="roundRect">
            <a:avLst>
              <a:gd name="adj" fmla="val 8205"/>
            </a:avLst>
          </a:prstGeom>
          <a:solidFill>
            <a:srgbClr val="FFFFFF"/>
          </a:solidFill>
          <a:ln/>
          <a:effectLst>
            <a:outerShdw blurRad="177800" dist="508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050024" y="1033272"/>
            <a:ext cx="1490472" cy="457200"/>
          </a:xfrm>
          <a:prstGeom prst="roundRect">
            <a:avLst>
              <a:gd name="adj" fmla="val 12000"/>
            </a:avLst>
          </a:prstGeom>
          <a:solidFill>
            <a:srgbClr val="007AFF"/>
          </a:solidFill>
          <a:ln/>
        </p:spPr>
      </p:sp>
      <p:sp>
        <p:nvSpPr>
          <p:cNvPr id="8" name="Text 6"/>
          <p:cNvSpPr/>
          <p:nvPr/>
        </p:nvSpPr>
        <p:spPr>
          <a:xfrm>
            <a:off x="7050024" y="1033272"/>
            <a:ext cx="1490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Мій Планер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050024" y="1645920"/>
            <a:ext cx="1490472" cy="457200"/>
          </a:xfrm>
          <a:prstGeom prst="roundRect">
            <a:avLst>
              <a:gd name="adj" fmla="val 10000"/>
            </a:avLst>
          </a:prstGeom>
          <a:solidFill>
            <a:srgbClr val="F2F6FC"/>
          </a:solidFill>
          <a:ln/>
        </p:spPr>
      </p:sp>
      <p:sp>
        <p:nvSpPr>
          <p:cNvPr id="10" name="Shape 8"/>
          <p:cNvSpPr/>
          <p:nvPr/>
        </p:nvSpPr>
        <p:spPr>
          <a:xfrm>
            <a:off x="7150608" y="1783080"/>
            <a:ext cx="182880" cy="182880"/>
          </a:xfrm>
          <a:prstGeom prst="ellipse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34072" y="1792224"/>
            <a:ext cx="868680" cy="64008"/>
          </a:xfrm>
          <a:prstGeom prst="rect">
            <a:avLst/>
          </a:prstGeom>
          <a:solidFill>
            <a:srgbClr val="C7D2E0"/>
          </a:solidFill>
          <a:ln/>
        </p:spPr>
      </p:sp>
      <p:sp>
        <p:nvSpPr>
          <p:cNvPr id="12" name="Shape 10"/>
          <p:cNvSpPr/>
          <p:nvPr/>
        </p:nvSpPr>
        <p:spPr>
          <a:xfrm>
            <a:off x="7434072" y="1920240"/>
            <a:ext cx="502920" cy="5486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3" name="Shape 11"/>
          <p:cNvSpPr/>
          <p:nvPr/>
        </p:nvSpPr>
        <p:spPr>
          <a:xfrm>
            <a:off x="7050024" y="2212848"/>
            <a:ext cx="1490472" cy="457200"/>
          </a:xfrm>
          <a:prstGeom prst="roundRect">
            <a:avLst>
              <a:gd name="adj" fmla="val 10000"/>
            </a:avLst>
          </a:prstGeom>
          <a:solidFill>
            <a:srgbClr val="F2F6FC"/>
          </a:solidFill>
          <a:ln/>
        </p:spPr>
      </p:sp>
      <p:sp>
        <p:nvSpPr>
          <p:cNvPr id="14" name="Shape 12"/>
          <p:cNvSpPr/>
          <p:nvPr/>
        </p:nvSpPr>
        <p:spPr>
          <a:xfrm>
            <a:off x="7150608" y="2350008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7D2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34072" y="2359152"/>
            <a:ext cx="868680" cy="64008"/>
          </a:xfrm>
          <a:prstGeom prst="rect">
            <a:avLst/>
          </a:prstGeom>
          <a:solidFill>
            <a:srgbClr val="C7D2E0"/>
          </a:solidFill>
          <a:ln/>
        </p:spPr>
      </p:sp>
      <p:sp>
        <p:nvSpPr>
          <p:cNvPr id="16" name="Shape 14"/>
          <p:cNvSpPr/>
          <p:nvPr/>
        </p:nvSpPr>
        <p:spPr>
          <a:xfrm>
            <a:off x="7434072" y="2487168"/>
            <a:ext cx="502920" cy="5486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7" name="Shape 15"/>
          <p:cNvSpPr/>
          <p:nvPr/>
        </p:nvSpPr>
        <p:spPr>
          <a:xfrm>
            <a:off x="7050024" y="2779776"/>
            <a:ext cx="1490472" cy="457200"/>
          </a:xfrm>
          <a:prstGeom prst="roundRect">
            <a:avLst>
              <a:gd name="adj" fmla="val 10000"/>
            </a:avLst>
          </a:prstGeom>
          <a:solidFill>
            <a:srgbClr val="F2F6FC"/>
          </a:solidFill>
          <a:ln/>
        </p:spPr>
      </p:sp>
      <p:sp>
        <p:nvSpPr>
          <p:cNvPr id="18" name="Shape 16"/>
          <p:cNvSpPr/>
          <p:nvPr/>
        </p:nvSpPr>
        <p:spPr>
          <a:xfrm>
            <a:off x="7150608" y="2916936"/>
            <a:ext cx="182880" cy="182880"/>
          </a:xfrm>
          <a:prstGeom prst="ellipse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34072" y="2926080"/>
            <a:ext cx="868680" cy="64008"/>
          </a:xfrm>
          <a:prstGeom prst="rect">
            <a:avLst/>
          </a:prstGeom>
          <a:solidFill>
            <a:srgbClr val="C7D2E0"/>
          </a:solidFill>
          <a:ln/>
        </p:spPr>
      </p:sp>
      <p:sp>
        <p:nvSpPr>
          <p:cNvPr id="20" name="Shape 18"/>
          <p:cNvSpPr/>
          <p:nvPr/>
        </p:nvSpPr>
        <p:spPr>
          <a:xfrm>
            <a:off x="7434072" y="3054096"/>
            <a:ext cx="502920" cy="5486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Shape 19"/>
          <p:cNvSpPr/>
          <p:nvPr/>
        </p:nvSpPr>
        <p:spPr>
          <a:xfrm>
            <a:off x="8119872" y="3694176"/>
            <a:ext cx="420624" cy="420624"/>
          </a:xfrm>
          <a:prstGeom prst="ellipse">
            <a:avLst/>
          </a:prstGeom>
          <a:solidFill>
            <a:srgbClr val="34C759"/>
          </a:solidFill>
          <a:ln/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119872" y="3648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+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7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</a:t>
            </a:r>
            <a:r>
              <a:rPr lang="en-US" sz="1100" b="1" kern="0" spc="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АКТУАЛЬНІСТЬ ТА МЕТА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Навіщо ще один планувальник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4069080" cy="3108960"/>
          </a:xfrm>
          <a:prstGeom prst="roundRect">
            <a:avLst>
              <a:gd name="adj" fmla="val 2353"/>
            </a:avLst>
          </a:prstGeom>
          <a:solidFill>
            <a:srgbClr val="F2F6FC"/>
          </a:solidFill>
          <a:ln/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37360"/>
            <a:ext cx="566928" cy="566928"/>
          </a:xfrm>
          <a:prstGeom prst="ellipse">
            <a:avLst/>
          </a:prstGeom>
          <a:solidFill>
            <a:srgbClr val="007AF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641" y="1884761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783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7240" y="2468880"/>
            <a:ext cx="3611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Планувальників багато (Todoist, Google Tasks, Microsoft To Do), але більшість: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обмежують безкоштовні версії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вимагають реєстрації облікового запису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потребують підключення до Інтернету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754880" y="1463040"/>
            <a:ext cx="388620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029200" y="1737360"/>
            <a:ext cx="566928" cy="566928"/>
          </a:xfrm>
          <a:prstGeom prst="ellipse">
            <a:avLst/>
          </a:prstGeom>
          <a:solidFill>
            <a:srgbClr val="34C759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6601" y="1884761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760720" y="1783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Мета роботи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029200" y="2395728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Розробити кросплатформний планер із нагадуваннями, що працює повністю локально, без реєстрації та Інтернету.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5029200" y="3383280"/>
            <a:ext cx="3429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Об'єкт: </a:t>
            </a: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процес розробки застосунку на React Native і TypeScript.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Предмет: </a:t>
            </a: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методи реалізації керування завданнями та нагадуваннями.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7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</a:t>
            </a:r>
            <a:r>
              <a:rPr lang="en-US" sz="1100" b="1" kern="0" spc="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ЗАВДАННЯ РОБОТИ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потрібно було зробити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40690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04088" y="1618488"/>
            <a:ext cx="548640" cy="548640"/>
          </a:xfrm>
          <a:prstGeom prst="ellipse">
            <a:avLst/>
          </a:prstGeom>
          <a:solidFill>
            <a:srgbClr val="007AF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734" y="1761134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563624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Аналіз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417320" y="189280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Дослідити предметну область і наявні аналоги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983480" y="1417320"/>
            <a:ext cx="4069080" cy="960120"/>
          </a:xfrm>
          <a:prstGeom prst="roundRect">
            <a:avLst>
              <a:gd name="adj" fmla="val 7619"/>
            </a:avLst>
          </a:prstGeom>
          <a:solidFill>
            <a:srgbClr val="F2F6FC"/>
          </a:solidFill>
          <a:ln/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184648" y="1618488"/>
            <a:ext cx="548640" cy="548640"/>
          </a:xfrm>
          <a:prstGeom prst="ellipse">
            <a:avLst/>
          </a:prstGeom>
          <a:solidFill>
            <a:srgbClr val="007AFF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7294" y="1761134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897880" y="1563624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Вимоги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5897880" y="189280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Сформувати функціональні та нефункціональні вимоги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02920" y="2542032"/>
            <a:ext cx="40690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04088" y="2743200"/>
            <a:ext cx="548640" cy="548640"/>
          </a:xfrm>
          <a:prstGeom prst="ellipse">
            <a:avLst/>
          </a:prstGeom>
          <a:solidFill>
            <a:srgbClr val="007AFF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734" y="2885846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2688336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Проєктування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1417320" y="30175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Спроєктувати архітектуру та структуру даних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4983480" y="2542032"/>
            <a:ext cx="4069080" cy="960120"/>
          </a:xfrm>
          <a:prstGeom prst="roundRect">
            <a:avLst>
              <a:gd name="adj" fmla="val 7619"/>
            </a:avLst>
          </a:prstGeom>
          <a:solidFill>
            <a:srgbClr val="F2F6FC"/>
          </a:solidFill>
          <a:ln/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184648" y="2743200"/>
            <a:ext cx="548640" cy="548640"/>
          </a:xfrm>
          <a:prstGeom prst="ellipse">
            <a:avLst/>
          </a:prstGeom>
          <a:solidFill>
            <a:srgbClr val="007AFF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27294" y="2885846"/>
            <a:ext cx="263347" cy="26334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897880" y="2688336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і календар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5897880" y="30175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Реалізувати керування завданнями та календар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502920" y="3666744"/>
            <a:ext cx="40690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04088" y="3867912"/>
            <a:ext cx="548640" cy="548640"/>
          </a:xfrm>
          <a:prstGeom prst="ellipse">
            <a:avLst/>
          </a:prstGeom>
          <a:solidFill>
            <a:srgbClr val="34C759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734" y="4010558"/>
            <a:ext cx="263347" cy="26334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17320" y="3813048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Нагадування й персоналізація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1417320" y="414223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Push-сповіщення, теми, дві мови, виконано, статистика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4983480" y="3666744"/>
            <a:ext cx="4069080" cy="960120"/>
          </a:xfrm>
          <a:prstGeom prst="roundRect">
            <a:avLst>
              <a:gd name="adj" fmla="val 7619"/>
            </a:avLst>
          </a:prstGeom>
          <a:solidFill>
            <a:srgbClr val="F2F6FC"/>
          </a:solidFill>
          <a:ln/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5184648" y="3867912"/>
            <a:ext cx="548640" cy="548640"/>
          </a:xfrm>
          <a:prstGeom prst="ellipse">
            <a:avLst/>
          </a:prstGeom>
          <a:solidFill>
            <a:srgbClr val="007AFF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27294" y="4010558"/>
            <a:ext cx="263347" cy="263347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897880" y="3813048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Тестування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5897880" y="414223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Перевірити коректність роботи застосунку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7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</a:t>
            </a:r>
            <a:r>
              <a:rPr lang="en-US" sz="1100" b="1" kern="0" spc="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АНАЛІЗ АНАЛОГІВ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PlannerApp на фоні конкурентів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08760"/>
          <a:ext cx="8138160" cy="91440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Критерій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PlannerApp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Todoist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Tasks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 To 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Повністю безкоштовний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34C7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Так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FF9F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Обмежено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34C7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Так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34C7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Так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Офлайн без реєстрації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34C7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Так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5B6B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Ні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5B6B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Ні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5B6B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Ні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Push-нагадування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34C7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Так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FF9F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Обмежено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FF9F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Обмежено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34C7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Так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Вбудований календар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34C7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Так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FF9F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Обмежено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5B6B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Ні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5B6B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Ні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Повна підтримка UA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34C7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Так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34C7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Так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34C7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Так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FF9F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Обмежено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Темна тема / кастомний фон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34C7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Так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FF9F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Обмежено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5B6B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Ні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5B6B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Ні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 2"/>
          <p:cNvSpPr/>
          <p:nvPr/>
        </p:nvSpPr>
        <p:spPr>
          <a:xfrm>
            <a:off x="502920" y="452628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PlannerApp — єдиний, що поєднує безкоштовність, офлайн без реєстрації та вбудований календар.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7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</a:t>
            </a:r>
            <a:r>
              <a:rPr lang="en-US" sz="1100" b="1" kern="0" spc="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ТЕХНОЛОГІЧНИЙ СТЕК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Інструменти та їх роль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267004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04088" y="1618488"/>
            <a:ext cx="566928" cy="566928"/>
          </a:xfrm>
          <a:prstGeom prst="ellipse">
            <a:avLst/>
          </a:prstGeom>
          <a:solidFill>
            <a:srgbClr val="007AF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489" y="1765889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258568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85800" y="2496312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Єдина кодова база для Android, нативна продуктивність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36976" y="1417320"/>
            <a:ext cx="267004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38144" y="1618488"/>
            <a:ext cx="566928" cy="566928"/>
          </a:xfrm>
          <a:prstGeom prst="ellipse">
            <a:avLst/>
          </a:prstGeom>
          <a:solidFill>
            <a:srgbClr val="007AFF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5545" y="1765889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19856" y="2258568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3419856" y="2496312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Сувора типізація, помилки на етапі компіляції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971032" y="1417320"/>
            <a:ext cx="267004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172200" y="1618488"/>
            <a:ext cx="566928" cy="566928"/>
          </a:xfrm>
          <a:prstGeom prst="ellipse">
            <a:avLst/>
          </a:prstGeom>
          <a:solidFill>
            <a:srgbClr val="007AFF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9601" y="1765889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53912" y="2258568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SDK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153912" y="2496312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 до нативних API без нативного коду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02920" y="2999232"/>
            <a:ext cx="2670048" cy="1417320"/>
          </a:xfrm>
          <a:prstGeom prst="roundRect">
            <a:avLst>
              <a:gd name="adj" fmla="val 5161"/>
            </a:avLst>
          </a:prstGeom>
          <a:solidFill>
            <a:srgbClr val="F2F6FC"/>
          </a:solidFill>
          <a:ln/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04088" y="3200400"/>
            <a:ext cx="566928" cy="566928"/>
          </a:xfrm>
          <a:prstGeom prst="ellipse">
            <a:avLst/>
          </a:prstGeom>
          <a:solidFill>
            <a:srgbClr val="007AFF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489" y="3347801"/>
            <a:ext cx="272125" cy="27212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85800" y="3840480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AsyncStorage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685800" y="4078224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Локальне сховище ключ–значення, повний офлайн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3236976" y="2999232"/>
            <a:ext cx="2670048" cy="1417320"/>
          </a:xfrm>
          <a:prstGeom prst="roundRect">
            <a:avLst>
              <a:gd name="adj" fmla="val 5161"/>
            </a:avLst>
          </a:prstGeom>
          <a:solidFill>
            <a:srgbClr val="F2F6FC"/>
          </a:solidFill>
          <a:ln/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438144" y="3200400"/>
            <a:ext cx="566928" cy="566928"/>
          </a:xfrm>
          <a:prstGeom prst="ellipse">
            <a:avLst/>
          </a:prstGeom>
          <a:solidFill>
            <a:srgbClr val="007AFF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85545" y="3347801"/>
            <a:ext cx="272125" cy="27212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419856" y="3840480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expo-notifications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3419856" y="4078224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Локальні push-нагадування з тригером 'date'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5971032" y="2999232"/>
            <a:ext cx="2670048" cy="1417320"/>
          </a:xfrm>
          <a:prstGeom prst="roundRect">
            <a:avLst>
              <a:gd name="adj" fmla="val 5161"/>
            </a:avLst>
          </a:prstGeom>
          <a:solidFill>
            <a:srgbClr val="F2F6FC"/>
          </a:solidFill>
          <a:ln/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172200" y="3200400"/>
            <a:ext cx="566928" cy="566928"/>
          </a:xfrm>
          <a:prstGeom prst="ellipse">
            <a:avLst/>
          </a:prstGeom>
          <a:solidFill>
            <a:srgbClr val="007AFF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19601" y="3347801"/>
            <a:ext cx="272125" cy="27212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153912" y="3840480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i18next + calendars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6153912" y="4078224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Дві мови та локалізований календар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7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</a:t>
            </a:r>
            <a:r>
              <a:rPr lang="en-US" sz="1100" b="1" kern="0" spc="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АРХІТЕКТУРА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Трирівнева архітектура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280160" y="1554480"/>
            <a:ext cx="6583680" cy="868680"/>
          </a:xfrm>
          <a:prstGeom prst="roundRect">
            <a:avLst>
              <a:gd name="adj" fmla="val 7368"/>
            </a:avLst>
          </a:prstGeom>
          <a:solidFill>
            <a:srgbClr val="F2F6FC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81328" y="1737360"/>
            <a:ext cx="502920" cy="502920"/>
          </a:xfrm>
          <a:prstGeom prst="ellipse">
            <a:avLst/>
          </a:prstGeom>
          <a:solidFill>
            <a:srgbClr val="007AFF"/>
          </a:solidFill>
          <a:ln/>
        </p:spPr>
      </p:sp>
      <p:sp>
        <p:nvSpPr>
          <p:cNvPr id="6" name="Text 4"/>
          <p:cNvSpPr/>
          <p:nvPr/>
        </p:nvSpPr>
        <p:spPr>
          <a:xfrm>
            <a:off x="1481328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194560" y="1682496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Рівень представлення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194560" y="201168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HomeScreen · AddTask · EditTask · Settings · Statistics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434840" y="2404872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9EFF"/>
                </a:solidFill>
              </a:rPr>
              <a:t>▼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280160" y="2633472"/>
            <a:ext cx="6583680" cy="868680"/>
          </a:xfrm>
          <a:prstGeom prst="roundRect">
            <a:avLst>
              <a:gd name="adj" fmla="val 7368"/>
            </a:avLst>
          </a:prstGeom>
          <a:solidFill>
            <a:srgbClr val="F2F6FC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481328" y="2816352"/>
            <a:ext cx="502920" cy="502920"/>
          </a:xfrm>
          <a:prstGeom prst="ellipse">
            <a:avLst/>
          </a:prstGeom>
          <a:solidFill>
            <a:srgbClr val="34C759"/>
          </a:solidFill>
          <a:ln/>
        </p:spPr>
      </p:sp>
      <p:sp>
        <p:nvSpPr>
          <p:cNvPr id="12" name="Text 10"/>
          <p:cNvSpPr/>
          <p:nvPr/>
        </p:nvSpPr>
        <p:spPr>
          <a:xfrm>
            <a:off x="1481328" y="28163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194560" y="27614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Рівень бізнес-логіки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194560" y="3090672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ThemeContext · i18n · планування сповіщень · валідація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434840" y="3483864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9EFF"/>
                </a:solidFill>
              </a:rPr>
              <a:t>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280160" y="3712464"/>
            <a:ext cx="6583680" cy="868680"/>
          </a:xfrm>
          <a:prstGeom prst="roundRect">
            <a:avLst>
              <a:gd name="adj" fmla="val 7368"/>
            </a:avLst>
          </a:prstGeom>
          <a:solidFill>
            <a:srgbClr val="F2F6FC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481328" y="3895344"/>
            <a:ext cx="502920" cy="50292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18" name="Text 16"/>
          <p:cNvSpPr/>
          <p:nvPr/>
        </p:nvSpPr>
        <p:spPr>
          <a:xfrm>
            <a:off x="1481328" y="38953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194560" y="384048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Рівень даних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2194560" y="4169664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AsyncStorage · модель Task (JSON) · серіалізація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280160" y="457200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Екрани не працюють зі сховищем напряму — його легко замінити (напр., на SQLite) без зміни інтерфейсу.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7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</a:t>
            </a:r>
            <a:r>
              <a:rPr lang="en-US" sz="1100" b="1" kern="0" spc="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РЕАЛІЗОВАНИЙ ФУНКЦІОНАЛ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Можливості застосунку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40690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04088" y="1618488"/>
            <a:ext cx="548640" cy="548640"/>
          </a:xfrm>
          <a:prstGeom prst="ellipse">
            <a:avLst/>
          </a:prstGeom>
          <a:solidFill>
            <a:srgbClr val="007AF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734" y="1761134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56362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Керування завданнями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417320" y="189280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Створення, перегляд, редагування, видалення (CRUD)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983480" y="1417320"/>
            <a:ext cx="4069080" cy="960120"/>
          </a:xfrm>
          <a:prstGeom prst="roundRect">
            <a:avLst>
              <a:gd name="adj" fmla="val 7619"/>
            </a:avLst>
          </a:prstGeom>
          <a:solidFill>
            <a:srgbClr val="F2F6FC"/>
          </a:solidFill>
          <a:ln/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184648" y="1618488"/>
            <a:ext cx="548640" cy="548640"/>
          </a:xfrm>
          <a:prstGeom prst="ellipse">
            <a:avLst/>
          </a:prstGeom>
          <a:solidFill>
            <a:srgbClr val="007AFF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7294" y="1761134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897880" y="156362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Календар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5897880" y="189280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Місячний огляд із маркерами на датах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02920" y="2542032"/>
            <a:ext cx="40690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04088" y="2743200"/>
            <a:ext cx="548640" cy="548640"/>
          </a:xfrm>
          <a:prstGeom prst="ellipse">
            <a:avLst/>
          </a:prstGeom>
          <a:solidFill>
            <a:srgbClr val="007AFF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734" y="2885846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268833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Нагадування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1417320" y="30175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Локальні push-сповіщення у заданий час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4983480" y="2542032"/>
            <a:ext cx="4069080" cy="960120"/>
          </a:xfrm>
          <a:prstGeom prst="roundRect">
            <a:avLst>
              <a:gd name="adj" fmla="val 7619"/>
            </a:avLst>
          </a:prstGeom>
          <a:solidFill>
            <a:srgbClr val="F2F6FC"/>
          </a:solidFill>
          <a:ln/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184648" y="2743200"/>
            <a:ext cx="548640" cy="548640"/>
          </a:xfrm>
          <a:prstGeom prst="ellipse">
            <a:avLst/>
          </a:prstGeom>
          <a:solidFill>
            <a:srgbClr val="34C759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27294" y="2885846"/>
            <a:ext cx="263347" cy="26334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897880" y="268833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Виконано + статистика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5897880" y="30175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Позначення виконаними та прогрес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502920" y="3666744"/>
            <a:ext cx="40690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04088" y="3867912"/>
            <a:ext cx="548640" cy="548640"/>
          </a:xfrm>
          <a:prstGeom prst="ellipse">
            <a:avLst/>
          </a:prstGeom>
          <a:solidFill>
            <a:srgbClr val="007AFF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734" y="4010558"/>
            <a:ext cx="263347" cy="26334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17320" y="381304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Світла / темна тема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1417320" y="414223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Перемикання без перезапуску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4983480" y="3666744"/>
            <a:ext cx="4069080" cy="960120"/>
          </a:xfrm>
          <a:prstGeom prst="roundRect">
            <a:avLst>
              <a:gd name="adj" fmla="val 7619"/>
            </a:avLst>
          </a:prstGeom>
          <a:solidFill>
            <a:srgbClr val="F2F6FC"/>
          </a:solidFill>
          <a:ln/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5184648" y="3867912"/>
            <a:ext cx="548640" cy="548640"/>
          </a:xfrm>
          <a:prstGeom prst="ellipse">
            <a:avLst/>
          </a:prstGeom>
          <a:solidFill>
            <a:srgbClr val="007AFF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27294" y="4010558"/>
            <a:ext cx="263347" cy="263347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897880" y="381304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Дві мови (UA / EN)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5897880" y="414223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Локалізація інтерфейсу та календаря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/>
          <p:nvPr/>
        </p:nvSpPr>
        <p:spPr>
          <a:xfrm>
            <a:off x="502920" y="31089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uk-UA" sz="1100" b="1" kern="0" spc="200" dirty="0">
                <a:solidFill>
                  <a:srgbClr val="007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</a:t>
            </a:r>
            <a:r>
              <a:rPr lang="uk-UA" sz="1100" b="1" kern="0" spc="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ГОЛОВНИЙ ЕКРАН</a:t>
            </a:r>
          </a:p>
        </p:txBody>
      </p:sp>
      <p:sp>
        <p:nvSpPr>
          <p:cNvPr id="3" name="t3"/>
          <p:cNvSpPr/>
          <p:nvPr/>
        </p:nvSpPr>
        <p:spPr>
          <a:xfrm>
            <a:off x="50292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uk-UA" sz="3000" b="1" kern="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Календар і список завдань</a:t>
            </a:r>
          </a:p>
        </p:txBody>
      </p:sp>
      <p:sp>
        <p:nvSpPr>
          <p:cNvPr id="4" name="card4"/>
          <p:cNvSpPr/>
          <p:nvPr/>
        </p:nvSpPr>
        <p:spPr>
          <a:xfrm>
            <a:off x="502920" y="1460000"/>
            <a:ext cx="3760000" cy="92000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e5"/>
          <p:cNvSpPr/>
          <p:nvPr/>
        </p:nvSpPr>
        <p:spPr>
          <a:xfrm>
            <a:off x="702920" y="1660000"/>
            <a:ext cx="520000" cy="520000"/>
          </a:xfrm>
          <a:prstGeom prst="ellipse">
            <a:avLst/>
          </a:prstGeom>
          <a:solidFill>
            <a:srgbClr val="007AFF"/>
          </a:solidFill>
          <a:ln/>
        </p:spPr>
      </p:sp>
      <p:sp>
        <p:nvSpPr>
          <p:cNvPr id="6" name="cn5"/>
          <p:cNvSpPr/>
          <p:nvPr/>
        </p:nvSpPr>
        <p:spPr>
          <a:xfrm>
            <a:off x="702920" y="1660000"/>
            <a:ext cx="5200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uk-UA" sz="1600" b="1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</a:p>
        </p:txBody>
      </p:sp>
      <p:sp>
        <p:nvSpPr>
          <p:cNvPr id="7" name="t7"/>
          <p:cNvSpPr/>
          <p:nvPr/>
        </p:nvSpPr>
        <p:spPr>
          <a:xfrm>
            <a:off x="1422920" y="1610000"/>
            <a:ext cx="268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uk-UA" sz="1400" b="1" kern="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Місячний календар</a:t>
            </a:r>
          </a:p>
        </p:txBody>
      </p:sp>
      <p:sp>
        <p:nvSpPr>
          <p:cNvPr id="8" name="t8"/>
          <p:cNvSpPr/>
          <p:nvPr/>
        </p:nvSpPr>
        <p:spPr>
          <a:xfrm>
            <a:off x="1422920" y="1930000"/>
            <a:ext cx="268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uk-UA" sz="1100" kern="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Маркери-крапки на датах із завданнями; вибір дня одним дотиком.</a:t>
            </a:r>
          </a:p>
        </p:txBody>
      </p:sp>
      <p:sp>
        <p:nvSpPr>
          <p:cNvPr id="9" name="card9"/>
          <p:cNvSpPr/>
          <p:nvPr/>
        </p:nvSpPr>
        <p:spPr>
          <a:xfrm>
            <a:off x="502920" y="2580000"/>
            <a:ext cx="3760000" cy="920000"/>
          </a:xfrm>
          <a:prstGeom prst="roundRect">
            <a:avLst>
              <a:gd name="adj" fmla="val 7619"/>
            </a:avLst>
          </a:prstGeom>
          <a:solidFill>
            <a:srgbClr val="F2F6FC"/>
          </a:solidFill>
          <a:ln/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e10"/>
          <p:cNvSpPr/>
          <p:nvPr/>
        </p:nvSpPr>
        <p:spPr>
          <a:xfrm>
            <a:off x="702920" y="2780000"/>
            <a:ext cx="520000" cy="520000"/>
          </a:xfrm>
          <a:prstGeom prst="ellipse">
            <a:avLst/>
          </a:prstGeom>
          <a:solidFill>
            <a:srgbClr val="34C759"/>
          </a:solidFill>
          <a:ln/>
        </p:spPr>
      </p:sp>
      <p:sp>
        <p:nvSpPr>
          <p:cNvPr id="11" name="cn10"/>
          <p:cNvSpPr/>
          <p:nvPr/>
        </p:nvSpPr>
        <p:spPr>
          <a:xfrm>
            <a:off x="702920" y="2780000"/>
            <a:ext cx="5200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uk-UA" sz="1600" b="1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</a:p>
        </p:txBody>
      </p:sp>
      <p:sp>
        <p:nvSpPr>
          <p:cNvPr id="12" name="t12"/>
          <p:cNvSpPr/>
          <p:nvPr/>
        </p:nvSpPr>
        <p:spPr>
          <a:xfrm>
            <a:off x="1422920" y="2730000"/>
            <a:ext cx="268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uk-UA" sz="1400" b="1" kern="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Список завдань дня</a:t>
            </a:r>
          </a:p>
        </p:txBody>
      </p:sp>
      <p:sp>
        <p:nvSpPr>
          <p:cNvPr id="13" name="t13"/>
          <p:cNvSpPr/>
          <p:nvPr/>
        </p:nvSpPr>
        <p:spPr>
          <a:xfrm>
            <a:off x="1422920" y="3050000"/>
            <a:ext cx="268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uk-UA" sz="1100" kern="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Заголовок з обраною датою; дотик по кружечку позначає завдання виконаним.</a:t>
            </a:r>
          </a:p>
        </p:txBody>
      </p:sp>
      <p:sp>
        <p:nvSpPr>
          <p:cNvPr id="14" name="card14"/>
          <p:cNvSpPr/>
          <p:nvPr/>
        </p:nvSpPr>
        <p:spPr>
          <a:xfrm>
            <a:off x="502920" y="3700000"/>
            <a:ext cx="3760000" cy="92000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e15"/>
          <p:cNvSpPr/>
          <p:nvPr/>
        </p:nvSpPr>
        <p:spPr>
          <a:xfrm>
            <a:off x="702920" y="3900000"/>
            <a:ext cx="520000" cy="520000"/>
          </a:xfrm>
          <a:prstGeom prst="ellipse">
            <a:avLst/>
          </a:prstGeom>
          <a:solidFill>
            <a:srgbClr val="007AFF"/>
          </a:solidFill>
          <a:ln/>
        </p:spPr>
      </p:sp>
      <p:sp>
        <p:nvSpPr>
          <p:cNvPr id="16" name="cn15"/>
          <p:cNvSpPr/>
          <p:nvPr/>
        </p:nvSpPr>
        <p:spPr>
          <a:xfrm>
            <a:off x="702920" y="3900000"/>
            <a:ext cx="5200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uk-UA" sz="1600" b="1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</a:p>
        </p:txBody>
      </p:sp>
      <p:sp>
        <p:nvSpPr>
          <p:cNvPr id="17" name="t17"/>
          <p:cNvSpPr/>
          <p:nvPr/>
        </p:nvSpPr>
        <p:spPr>
          <a:xfrm>
            <a:off x="1422920" y="3850000"/>
            <a:ext cx="268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uk-UA" sz="1400" b="1" kern="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Світла й темна теми</a:t>
            </a:r>
          </a:p>
        </p:txBody>
      </p:sp>
      <p:sp>
        <p:nvSpPr>
          <p:cNvPr id="18" name="t18"/>
          <p:cNvSpPr/>
          <p:nvPr/>
        </p:nvSpPr>
        <p:spPr>
          <a:xfrm>
            <a:off x="1422920" y="4170000"/>
            <a:ext cx="268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uk-UA" sz="1100" kern="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Той самий екран миттєво адаптується до обраної теми оформлення.</a:t>
            </a:r>
          </a:p>
        </p:txBody>
      </p:sp>
      <p:sp>
        <p:nvSpPr>
          <p:cNvPr id="19" name="card19"/>
          <p:cNvSpPr/>
          <p:nvPr/>
        </p:nvSpPr>
        <p:spPr>
          <a:xfrm>
            <a:off x="4980000" y="1380000"/>
            <a:ext cx="1686968" cy="335000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0" name="pic20" descr="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5000" y="1435000"/>
            <a:ext cx="1576968" cy="3240000"/>
          </a:xfrm>
          <a:prstGeom prst="rect">
            <a:avLst/>
          </a:prstGeom>
        </p:spPr>
      </p:pic>
      <p:sp>
        <p:nvSpPr>
          <p:cNvPr id="21" name="card21"/>
          <p:cNvSpPr/>
          <p:nvPr/>
        </p:nvSpPr>
        <p:spPr>
          <a:xfrm>
            <a:off x="6836968" y="1380000"/>
            <a:ext cx="1686968" cy="335000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2" name="pic22" descr="screensh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1968" y="1435000"/>
            <a:ext cx="1576968" cy="3240000"/>
          </a:xfrm>
          <a:prstGeom prst="rect">
            <a:avLst/>
          </a:prstGeom>
        </p:spPr>
      </p:pic>
      <p:sp>
        <p:nvSpPr>
          <p:cNvPr id="23" name="t23"/>
          <p:cNvSpPr/>
          <p:nvPr/>
        </p:nvSpPr>
        <p:spPr>
          <a:xfrm>
            <a:off x="4980000" y="4800000"/>
            <a:ext cx="1686968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uk-UA" sz="1050" b="1" kern="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Світла тема</a:t>
            </a:r>
          </a:p>
        </p:txBody>
      </p:sp>
      <p:sp>
        <p:nvSpPr>
          <p:cNvPr id="24" name="t24"/>
          <p:cNvSpPr/>
          <p:nvPr/>
        </p:nvSpPr>
        <p:spPr>
          <a:xfrm>
            <a:off x="6836968" y="4800000"/>
            <a:ext cx="1686968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uk-UA" sz="1050" b="1" kern="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Темна тема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/>
          <p:nvPr/>
        </p:nvSpPr>
        <p:spPr>
          <a:xfrm>
            <a:off x="502920" y="31089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uk-UA" sz="1100" b="1" kern="0" spc="200" dirty="0">
                <a:solidFill>
                  <a:srgbClr val="007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</a:t>
            </a:r>
            <a:r>
              <a:rPr lang="uk-UA" sz="1100" b="1" kern="0" spc="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РОБОТА ІЗ ЗАВДАННЯМИ</a:t>
            </a:r>
          </a:p>
        </p:txBody>
      </p:sp>
      <p:sp>
        <p:nvSpPr>
          <p:cNvPr id="3" name="t3"/>
          <p:cNvSpPr/>
          <p:nvPr/>
        </p:nvSpPr>
        <p:spPr>
          <a:xfrm>
            <a:off x="50292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uk-UA" sz="3000" b="1" kern="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Створення та редагування</a:t>
            </a:r>
          </a:p>
        </p:txBody>
      </p:sp>
      <p:sp>
        <p:nvSpPr>
          <p:cNvPr id="4" name="card4"/>
          <p:cNvSpPr/>
          <p:nvPr/>
        </p:nvSpPr>
        <p:spPr>
          <a:xfrm>
            <a:off x="502920" y="1420000"/>
            <a:ext cx="4180000" cy="77000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e5"/>
          <p:cNvSpPr/>
          <p:nvPr/>
        </p:nvSpPr>
        <p:spPr>
          <a:xfrm>
            <a:off x="702920" y="1545000"/>
            <a:ext cx="520000" cy="520000"/>
          </a:xfrm>
          <a:prstGeom prst="ellipse">
            <a:avLst/>
          </a:prstGeom>
          <a:solidFill>
            <a:srgbClr val="007AFF"/>
          </a:solidFill>
          <a:ln/>
        </p:spPr>
      </p:sp>
      <p:sp>
        <p:nvSpPr>
          <p:cNvPr id="6" name="cn5"/>
          <p:cNvSpPr/>
          <p:nvPr/>
        </p:nvSpPr>
        <p:spPr>
          <a:xfrm>
            <a:off x="702920" y="1545000"/>
            <a:ext cx="5200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uk-UA" sz="1600" b="1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</a:p>
        </p:txBody>
      </p:sp>
      <p:sp>
        <p:nvSpPr>
          <p:cNvPr id="7" name="t7"/>
          <p:cNvSpPr/>
          <p:nvPr/>
        </p:nvSpPr>
        <p:spPr>
          <a:xfrm>
            <a:off x="1422920" y="1570000"/>
            <a:ext cx="31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uk-UA" sz="1400" b="1" kern="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Створення (Create)</a:t>
            </a:r>
          </a:p>
        </p:txBody>
      </p:sp>
      <p:sp>
        <p:nvSpPr>
          <p:cNvPr id="8" name="t8"/>
          <p:cNvSpPr/>
          <p:nvPr/>
        </p:nvSpPr>
        <p:spPr>
          <a:xfrm>
            <a:off x="1422920" y="1890000"/>
            <a:ext cx="3100000" cy="2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uk-UA" sz="1100" kern="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Назва, дата й час через нативний вибір, перемикач нагадування.</a:t>
            </a:r>
          </a:p>
        </p:txBody>
      </p:sp>
      <p:sp>
        <p:nvSpPr>
          <p:cNvPr id="9" name="card9"/>
          <p:cNvSpPr/>
          <p:nvPr/>
        </p:nvSpPr>
        <p:spPr>
          <a:xfrm>
            <a:off x="502920" y="2340000"/>
            <a:ext cx="4180000" cy="770000"/>
          </a:xfrm>
          <a:prstGeom prst="roundRect">
            <a:avLst>
              <a:gd name="adj" fmla="val 7619"/>
            </a:avLst>
          </a:prstGeom>
          <a:solidFill>
            <a:srgbClr val="F2F6FC"/>
          </a:solidFill>
          <a:ln/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e10"/>
          <p:cNvSpPr/>
          <p:nvPr/>
        </p:nvSpPr>
        <p:spPr>
          <a:xfrm>
            <a:off x="702920" y="2465000"/>
            <a:ext cx="520000" cy="520000"/>
          </a:xfrm>
          <a:prstGeom prst="ellipse">
            <a:avLst/>
          </a:prstGeom>
          <a:solidFill>
            <a:srgbClr val="34C759"/>
          </a:solidFill>
          <a:ln/>
        </p:spPr>
      </p:sp>
      <p:sp>
        <p:nvSpPr>
          <p:cNvPr id="11" name="cn10"/>
          <p:cNvSpPr/>
          <p:nvPr/>
        </p:nvSpPr>
        <p:spPr>
          <a:xfrm>
            <a:off x="702920" y="2465000"/>
            <a:ext cx="5200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uk-UA" sz="1600" b="1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</a:p>
        </p:txBody>
      </p:sp>
      <p:sp>
        <p:nvSpPr>
          <p:cNvPr id="12" name="t12"/>
          <p:cNvSpPr/>
          <p:nvPr/>
        </p:nvSpPr>
        <p:spPr>
          <a:xfrm>
            <a:off x="1422920" y="2490000"/>
            <a:ext cx="31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uk-UA" sz="1400" b="1" kern="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Редагування (Update)</a:t>
            </a:r>
          </a:p>
        </p:txBody>
      </p:sp>
      <p:sp>
        <p:nvSpPr>
          <p:cNvPr id="13" name="t13"/>
          <p:cNvSpPr/>
          <p:nvPr/>
        </p:nvSpPr>
        <p:spPr>
          <a:xfrm>
            <a:off x="1422920" y="2810000"/>
            <a:ext cx="3100000" cy="2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uk-UA" sz="1100" kern="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 заповнюється даними завдання; старе нагадування коректно оновлюється.</a:t>
            </a:r>
          </a:p>
        </p:txBody>
      </p:sp>
      <p:sp>
        <p:nvSpPr>
          <p:cNvPr id="14" name="card14"/>
          <p:cNvSpPr/>
          <p:nvPr/>
        </p:nvSpPr>
        <p:spPr>
          <a:xfrm>
            <a:off x="502920" y="3260000"/>
            <a:ext cx="4180000" cy="77000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e15"/>
          <p:cNvSpPr/>
          <p:nvPr/>
        </p:nvSpPr>
        <p:spPr>
          <a:xfrm>
            <a:off x="702920" y="3385000"/>
            <a:ext cx="520000" cy="520000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6" name="cn15"/>
          <p:cNvSpPr/>
          <p:nvPr/>
        </p:nvSpPr>
        <p:spPr>
          <a:xfrm>
            <a:off x="702920" y="3385000"/>
            <a:ext cx="5200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uk-UA" sz="1600" b="1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</a:p>
        </p:txBody>
      </p:sp>
      <p:sp>
        <p:nvSpPr>
          <p:cNvPr id="17" name="t17"/>
          <p:cNvSpPr/>
          <p:nvPr/>
        </p:nvSpPr>
        <p:spPr>
          <a:xfrm>
            <a:off x="1422920" y="3410000"/>
            <a:ext cx="31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uk-UA" sz="1400" b="1" kern="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Видалення (Delete)</a:t>
            </a:r>
          </a:p>
        </p:txBody>
      </p:sp>
      <p:sp>
        <p:nvSpPr>
          <p:cNvPr id="18" name="t18"/>
          <p:cNvSpPr/>
          <p:nvPr/>
        </p:nvSpPr>
        <p:spPr>
          <a:xfrm>
            <a:off x="1422920" y="3730000"/>
            <a:ext cx="3100000" cy="2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uk-UA" sz="1100" kern="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Двоетапне підтвердження; заплановане сповіщення скасовується.</a:t>
            </a:r>
          </a:p>
        </p:txBody>
      </p:sp>
      <p:sp>
        <p:nvSpPr>
          <p:cNvPr id="19" name="card19"/>
          <p:cNvSpPr/>
          <p:nvPr/>
        </p:nvSpPr>
        <p:spPr>
          <a:xfrm>
            <a:off x="502920" y="4180000"/>
            <a:ext cx="4180000" cy="770000"/>
          </a:xfrm>
          <a:prstGeom prst="roundRect">
            <a:avLst>
              <a:gd name="adj" fmla="val 7619"/>
            </a:avLst>
          </a:prstGeom>
          <a:solidFill>
            <a:srgbClr val="F2F6FC"/>
          </a:solidFill>
          <a:ln/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e20"/>
          <p:cNvSpPr/>
          <p:nvPr/>
        </p:nvSpPr>
        <p:spPr>
          <a:xfrm>
            <a:off x="702920" y="4305000"/>
            <a:ext cx="520000" cy="520000"/>
          </a:xfrm>
          <a:prstGeom prst="ellipse">
            <a:avLst/>
          </a:prstGeom>
          <a:solidFill>
            <a:srgbClr val="007AFF"/>
          </a:solidFill>
          <a:ln/>
        </p:spPr>
      </p:sp>
      <p:sp>
        <p:nvSpPr>
          <p:cNvPr id="21" name="cn20"/>
          <p:cNvSpPr/>
          <p:nvPr/>
        </p:nvSpPr>
        <p:spPr>
          <a:xfrm>
            <a:off x="702920" y="4305000"/>
            <a:ext cx="5200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uk-UA" sz="1600" b="1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</a:p>
        </p:txBody>
      </p:sp>
      <p:sp>
        <p:nvSpPr>
          <p:cNvPr id="22" name="t22"/>
          <p:cNvSpPr/>
          <p:nvPr/>
        </p:nvSpPr>
        <p:spPr>
          <a:xfrm>
            <a:off x="1422920" y="4330000"/>
            <a:ext cx="31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uk-UA" sz="1400" b="1" kern="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Валідація</a:t>
            </a:r>
          </a:p>
        </p:txBody>
      </p:sp>
      <p:sp>
        <p:nvSpPr>
          <p:cNvPr id="23" name="t23"/>
          <p:cNvSpPr/>
          <p:nvPr/>
        </p:nvSpPr>
        <p:spPr>
          <a:xfrm>
            <a:off x="1422920" y="4650000"/>
            <a:ext cx="3100000" cy="2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uk-UA" sz="1100" kern="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Порожня назва й час у минулому не приймаються — без втрати даних.</a:t>
            </a:r>
          </a:p>
        </p:txBody>
      </p:sp>
      <p:sp>
        <p:nvSpPr>
          <p:cNvPr id="24" name="card24"/>
          <p:cNvSpPr/>
          <p:nvPr/>
        </p:nvSpPr>
        <p:spPr>
          <a:xfrm>
            <a:off x="6150000" y="1320000"/>
            <a:ext cx="1667500" cy="331000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5" name="pic25" descr="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5000" y="1375000"/>
            <a:ext cx="1557500" cy="3200000"/>
          </a:xfrm>
          <a:prstGeom prst="rect">
            <a:avLst/>
          </a:prstGeom>
        </p:spPr>
      </p:pic>
      <p:sp>
        <p:nvSpPr>
          <p:cNvPr id="26" name="t26"/>
          <p:cNvSpPr/>
          <p:nvPr/>
        </p:nvSpPr>
        <p:spPr>
          <a:xfrm>
            <a:off x="6150000" y="4700000"/>
            <a:ext cx="16675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uk-UA" sz="1050" b="1" kern="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Екран редагування завдання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7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</a:t>
            </a:r>
            <a:r>
              <a:rPr lang="en-US" sz="1100" b="1" kern="0" spc="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КЛЮЧОВІ МЕХАНІЗМИ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Нагадування та статистика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41148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91640"/>
            <a:ext cx="548640" cy="548640"/>
          </a:xfrm>
          <a:prstGeom prst="ellipse">
            <a:avLst/>
          </a:prstGeom>
          <a:solidFill>
            <a:srgbClr val="007AF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166" y="183428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700784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Локальні нагадування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31520" y="2212848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Тригер типу 'date'; notificationId зберігається у завданні й коректно скасовується при редагуванні чи видаленні.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02920" y="3063240"/>
            <a:ext cx="4114800" cy="1508760"/>
          </a:xfrm>
          <a:prstGeom prst="roundRect">
            <a:avLst>
              <a:gd name="adj" fmla="val 4848"/>
            </a:avLst>
          </a:prstGeom>
          <a:solidFill>
            <a:srgbClr val="F2F6FC"/>
          </a:solidFill>
          <a:ln/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31520" y="3291840"/>
            <a:ext cx="548640" cy="548640"/>
          </a:xfrm>
          <a:prstGeom prst="ellipse">
            <a:avLst/>
          </a:prstGeom>
          <a:solidFill>
            <a:srgbClr val="34C759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166" y="343448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3300984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Статистика виконання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731520" y="3813048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Відсоток прогресу, показники за день і тиждень, графік за днями тижня. Обчислюється з наявних даних — без змін у моделі.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4846320" y="146304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Приклад: завдання за тиждень</a:t>
            </a:r>
            <a:endParaRPr lang="en-US" sz="1200" dirty="0"/>
          </a:p>
        </p:txBody>
      </p:sp>
      <p:graphicFrame>
        <p:nvGraphicFramePr>
          <p:cNvPr id="15" name="Chart 0"/>
          <p:cNvGraphicFramePr/>
          <p:nvPr/>
        </p:nvGraphicFramePr>
        <p:xfrm>
          <a:off x="4754880" y="1783080"/>
          <a:ext cx="393192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/>
          <p:nvPr/>
        </p:nvSpPr>
        <p:spPr>
          <a:xfrm>
            <a:off x="502920" y="31089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uk-UA" sz="1100" b="1" kern="0" spc="200" dirty="0">
                <a:solidFill>
                  <a:srgbClr val="007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</a:t>
            </a:r>
            <a:r>
              <a:rPr lang="uk-UA" sz="1100" b="1" kern="0" spc="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ЕКРАН СТАТИСТИКИ</a:t>
            </a:r>
          </a:p>
        </p:txBody>
      </p:sp>
      <p:sp>
        <p:nvSpPr>
          <p:cNvPr id="3" name="t3"/>
          <p:cNvSpPr/>
          <p:nvPr/>
        </p:nvSpPr>
        <p:spPr>
          <a:xfrm>
            <a:off x="50292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uk-UA" sz="3000" b="1" kern="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Відстеження прогресу</a:t>
            </a:r>
          </a:p>
        </p:txBody>
      </p:sp>
      <p:sp>
        <p:nvSpPr>
          <p:cNvPr id="4" name="card4"/>
          <p:cNvSpPr/>
          <p:nvPr/>
        </p:nvSpPr>
        <p:spPr>
          <a:xfrm>
            <a:off x="502920" y="1420000"/>
            <a:ext cx="4180000" cy="77000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e5"/>
          <p:cNvSpPr/>
          <p:nvPr/>
        </p:nvSpPr>
        <p:spPr>
          <a:xfrm>
            <a:off x="702920" y="1545000"/>
            <a:ext cx="520000" cy="520000"/>
          </a:xfrm>
          <a:prstGeom prst="ellipse">
            <a:avLst/>
          </a:prstGeom>
          <a:solidFill>
            <a:srgbClr val="34C759"/>
          </a:solidFill>
          <a:ln/>
        </p:spPr>
      </p:sp>
      <p:sp>
        <p:nvSpPr>
          <p:cNvPr id="6" name="cn5"/>
          <p:cNvSpPr/>
          <p:nvPr/>
        </p:nvSpPr>
        <p:spPr>
          <a:xfrm>
            <a:off x="702920" y="1545000"/>
            <a:ext cx="5200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uk-UA" sz="1600" b="1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</a:p>
        </p:txBody>
      </p:sp>
      <p:sp>
        <p:nvSpPr>
          <p:cNvPr id="7" name="t7"/>
          <p:cNvSpPr/>
          <p:nvPr/>
        </p:nvSpPr>
        <p:spPr>
          <a:xfrm>
            <a:off x="1422920" y="1570000"/>
            <a:ext cx="31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uk-UA" sz="1400" b="1" kern="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Загальний прогрес</a:t>
            </a:r>
          </a:p>
        </p:txBody>
      </p:sp>
      <p:sp>
        <p:nvSpPr>
          <p:cNvPr id="8" name="t8"/>
          <p:cNvSpPr/>
          <p:nvPr/>
        </p:nvSpPr>
        <p:spPr>
          <a:xfrm>
            <a:off x="1422920" y="1890000"/>
            <a:ext cx="3100000" cy="2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uk-UA" sz="1100" kern="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Відсоток виконання та смуга прогресу за всіма завданнями.</a:t>
            </a:r>
          </a:p>
        </p:txBody>
      </p:sp>
      <p:sp>
        <p:nvSpPr>
          <p:cNvPr id="9" name="card9"/>
          <p:cNvSpPr/>
          <p:nvPr/>
        </p:nvSpPr>
        <p:spPr>
          <a:xfrm>
            <a:off x="502920" y="2340000"/>
            <a:ext cx="4180000" cy="770000"/>
          </a:xfrm>
          <a:prstGeom prst="roundRect">
            <a:avLst>
              <a:gd name="adj" fmla="val 7619"/>
            </a:avLst>
          </a:prstGeom>
          <a:solidFill>
            <a:srgbClr val="F2F6FC"/>
          </a:solidFill>
          <a:ln/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e10"/>
          <p:cNvSpPr/>
          <p:nvPr/>
        </p:nvSpPr>
        <p:spPr>
          <a:xfrm>
            <a:off x="702920" y="2465000"/>
            <a:ext cx="520000" cy="520000"/>
          </a:xfrm>
          <a:prstGeom prst="ellipse">
            <a:avLst/>
          </a:prstGeom>
          <a:solidFill>
            <a:srgbClr val="007AFF"/>
          </a:solidFill>
          <a:ln/>
        </p:spPr>
      </p:sp>
      <p:sp>
        <p:nvSpPr>
          <p:cNvPr id="11" name="cn10"/>
          <p:cNvSpPr/>
          <p:nvPr/>
        </p:nvSpPr>
        <p:spPr>
          <a:xfrm>
            <a:off x="702920" y="2465000"/>
            <a:ext cx="5200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uk-UA" sz="1600" b="1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</a:p>
        </p:txBody>
      </p:sp>
      <p:sp>
        <p:nvSpPr>
          <p:cNvPr id="12" name="t12"/>
          <p:cNvSpPr/>
          <p:nvPr/>
        </p:nvSpPr>
        <p:spPr>
          <a:xfrm>
            <a:off x="1422920" y="2490000"/>
            <a:ext cx="31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uk-UA" sz="1400" b="1" kern="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Усього · виконано · активні</a:t>
            </a:r>
          </a:p>
        </p:txBody>
      </p:sp>
      <p:sp>
        <p:nvSpPr>
          <p:cNvPr id="13" name="t13"/>
          <p:cNvSpPr/>
          <p:nvPr/>
        </p:nvSpPr>
        <p:spPr>
          <a:xfrm>
            <a:off x="1422920" y="2810000"/>
            <a:ext cx="3100000" cy="2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uk-UA" sz="1100" kern="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показники-картки та окрема картка протермінованих.</a:t>
            </a:r>
          </a:p>
        </p:txBody>
      </p:sp>
      <p:sp>
        <p:nvSpPr>
          <p:cNvPr id="14" name="card14"/>
          <p:cNvSpPr/>
          <p:nvPr/>
        </p:nvSpPr>
        <p:spPr>
          <a:xfrm>
            <a:off x="502920" y="3260000"/>
            <a:ext cx="4180000" cy="77000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e15"/>
          <p:cNvSpPr/>
          <p:nvPr/>
        </p:nvSpPr>
        <p:spPr>
          <a:xfrm>
            <a:off x="702920" y="3385000"/>
            <a:ext cx="520000" cy="520000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6" name="cn15"/>
          <p:cNvSpPr/>
          <p:nvPr/>
        </p:nvSpPr>
        <p:spPr>
          <a:xfrm>
            <a:off x="702920" y="3385000"/>
            <a:ext cx="5200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uk-UA" sz="1600" b="1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</a:p>
        </p:txBody>
      </p:sp>
      <p:sp>
        <p:nvSpPr>
          <p:cNvPr id="17" name="t17"/>
          <p:cNvSpPr/>
          <p:nvPr/>
        </p:nvSpPr>
        <p:spPr>
          <a:xfrm>
            <a:off x="1422920" y="3410000"/>
            <a:ext cx="31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uk-UA" sz="1400" b="1" kern="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Сьогодні й цей тиждень</a:t>
            </a:r>
          </a:p>
        </p:txBody>
      </p:sp>
      <p:sp>
        <p:nvSpPr>
          <p:cNvPr id="18" name="t18"/>
          <p:cNvSpPr/>
          <p:nvPr/>
        </p:nvSpPr>
        <p:spPr>
          <a:xfrm>
            <a:off x="1422920" y="3730000"/>
            <a:ext cx="3100000" cy="2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uk-UA" sz="1100" kern="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Окремі смуги прогресу для дня та поточного тижня.</a:t>
            </a:r>
          </a:p>
        </p:txBody>
      </p:sp>
      <p:sp>
        <p:nvSpPr>
          <p:cNvPr id="19" name="card19"/>
          <p:cNvSpPr/>
          <p:nvPr/>
        </p:nvSpPr>
        <p:spPr>
          <a:xfrm>
            <a:off x="502920" y="4180000"/>
            <a:ext cx="4180000" cy="770000"/>
          </a:xfrm>
          <a:prstGeom prst="roundRect">
            <a:avLst>
              <a:gd name="adj" fmla="val 7619"/>
            </a:avLst>
          </a:prstGeom>
          <a:solidFill>
            <a:srgbClr val="F2F6FC"/>
          </a:solidFill>
          <a:ln/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e20"/>
          <p:cNvSpPr/>
          <p:nvPr/>
        </p:nvSpPr>
        <p:spPr>
          <a:xfrm>
            <a:off x="702920" y="4305000"/>
            <a:ext cx="520000" cy="520000"/>
          </a:xfrm>
          <a:prstGeom prst="ellipse">
            <a:avLst/>
          </a:prstGeom>
          <a:solidFill>
            <a:srgbClr val="34C759"/>
          </a:solidFill>
          <a:ln/>
        </p:spPr>
      </p:sp>
      <p:sp>
        <p:nvSpPr>
          <p:cNvPr id="21" name="cn20"/>
          <p:cNvSpPr/>
          <p:nvPr/>
        </p:nvSpPr>
        <p:spPr>
          <a:xfrm>
            <a:off x="702920" y="4305000"/>
            <a:ext cx="5200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uk-UA" sz="1600" b="1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</a:p>
        </p:txBody>
      </p:sp>
      <p:sp>
        <p:nvSpPr>
          <p:cNvPr id="22" name="t22"/>
          <p:cNvSpPr/>
          <p:nvPr/>
        </p:nvSpPr>
        <p:spPr>
          <a:xfrm>
            <a:off x="1422920" y="4330000"/>
            <a:ext cx="31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uk-UA" sz="1400" b="1" kern="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Графік за днями тижня</a:t>
            </a:r>
          </a:p>
        </p:txBody>
      </p:sp>
      <p:sp>
        <p:nvSpPr>
          <p:cNvPr id="23" name="t23"/>
          <p:cNvSpPr/>
          <p:nvPr/>
        </p:nvSpPr>
        <p:spPr>
          <a:xfrm>
            <a:off x="1422920" y="4650000"/>
            <a:ext cx="3100000" cy="2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uk-UA" sz="1100" kern="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Зелене — виконано, синє — заплановано; рахується без змін у моделі.</a:t>
            </a:r>
          </a:p>
        </p:txBody>
      </p:sp>
      <p:sp>
        <p:nvSpPr>
          <p:cNvPr id="24" name="card24"/>
          <p:cNvSpPr/>
          <p:nvPr/>
        </p:nvSpPr>
        <p:spPr>
          <a:xfrm>
            <a:off x="6150000" y="1320000"/>
            <a:ext cx="1667500" cy="331000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5" name="pic25" descr="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5000" y="1375000"/>
            <a:ext cx="1557500" cy="3200000"/>
          </a:xfrm>
          <a:prstGeom prst="rect">
            <a:avLst/>
          </a:prstGeom>
        </p:spPr>
      </p:pic>
      <p:sp>
        <p:nvSpPr>
          <p:cNvPr id="26" name="t26"/>
          <p:cNvSpPr/>
          <p:nvPr/>
        </p:nvSpPr>
        <p:spPr>
          <a:xfrm>
            <a:off x="6150000" y="4700000"/>
            <a:ext cx="16675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uk-UA" sz="1050" b="1" kern="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Екран статистики виконання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/>
          <p:nvPr/>
        </p:nvSpPr>
        <p:spPr>
          <a:xfrm>
            <a:off x="502920" y="31089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uk-UA" sz="1100" b="1" kern="0" spc="200" dirty="0">
                <a:solidFill>
                  <a:srgbClr val="007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</a:t>
            </a:r>
            <a:r>
              <a:rPr lang="uk-UA" sz="1100" b="1" kern="0" spc="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ПЕРСОНАЛІЗАЦІЯ</a:t>
            </a:r>
          </a:p>
        </p:txBody>
      </p:sp>
      <p:sp>
        <p:nvSpPr>
          <p:cNvPr id="3" name="t3"/>
          <p:cNvSpPr/>
          <p:nvPr/>
        </p:nvSpPr>
        <p:spPr>
          <a:xfrm>
            <a:off x="50292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uk-UA" sz="3000" b="1" kern="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Тема та мова інтерфейсу</a:t>
            </a:r>
          </a:p>
        </p:txBody>
      </p:sp>
      <p:sp>
        <p:nvSpPr>
          <p:cNvPr id="4" name="card4"/>
          <p:cNvSpPr/>
          <p:nvPr/>
        </p:nvSpPr>
        <p:spPr>
          <a:xfrm>
            <a:off x="502920" y="1500000"/>
            <a:ext cx="4180000" cy="90000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e5"/>
          <p:cNvSpPr/>
          <p:nvPr/>
        </p:nvSpPr>
        <p:spPr>
          <a:xfrm>
            <a:off x="702920" y="1690000"/>
            <a:ext cx="520000" cy="520000"/>
          </a:xfrm>
          <a:prstGeom prst="ellipse">
            <a:avLst/>
          </a:prstGeom>
          <a:solidFill>
            <a:srgbClr val="007AFF"/>
          </a:solidFill>
          <a:ln/>
        </p:spPr>
      </p:sp>
      <p:sp>
        <p:nvSpPr>
          <p:cNvPr id="6" name="cn5"/>
          <p:cNvSpPr/>
          <p:nvPr/>
        </p:nvSpPr>
        <p:spPr>
          <a:xfrm>
            <a:off x="702920" y="1690000"/>
            <a:ext cx="5200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uk-UA" sz="1600" b="1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</a:p>
        </p:txBody>
      </p:sp>
      <p:sp>
        <p:nvSpPr>
          <p:cNvPr id="7" name="t7"/>
          <p:cNvSpPr/>
          <p:nvPr/>
        </p:nvSpPr>
        <p:spPr>
          <a:xfrm>
            <a:off x="1422920" y="1650000"/>
            <a:ext cx="31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uk-UA" sz="1400" b="1" kern="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Світла / темна тема</a:t>
            </a:r>
          </a:p>
        </p:txBody>
      </p:sp>
      <p:sp>
        <p:nvSpPr>
          <p:cNvPr id="8" name="t8"/>
          <p:cNvSpPr/>
          <p:nvPr/>
        </p:nvSpPr>
        <p:spPr>
          <a:xfrm>
            <a:off x="1422920" y="1970000"/>
            <a:ext cx="31000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uk-UA" sz="1100" kern="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Перемикач теми; вибір зберігається в AsyncStorage між запусками.</a:t>
            </a:r>
          </a:p>
        </p:txBody>
      </p:sp>
      <p:sp>
        <p:nvSpPr>
          <p:cNvPr id="9" name="card9"/>
          <p:cNvSpPr/>
          <p:nvPr/>
        </p:nvSpPr>
        <p:spPr>
          <a:xfrm>
            <a:off x="502920" y="2600000"/>
            <a:ext cx="4180000" cy="900000"/>
          </a:xfrm>
          <a:prstGeom prst="roundRect">
            <a:avLst>
              <a:gd name="adj" fmla="val 7619"/>
            </a:avLst>
          </a:prstGeom>
          <a:solidFill>
            <a:srgbClr val="F2F6FC"/>
          </a:solidFill>
          <a:ln/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e10"/>
          <p:cNvSpPr/>
          <p:nvPr/>
        </p:nvSpPr>
        <p:spPr>
          <a:xfrm>
            <a:off x="702920" y="2790000"/>
            <a:ext cx="520000" cy="520000"/>
          </a:xfrm>
          <a:prstGeom prst="ellipse">
            <a:avLst/>
          </a:prstGeom>
          <a:solidFill>
            <a:srgbClr val="34C759"/>
          </a:solidFill>
          <a:ln/>
        </p:spPr>
      </p:sp>
      <p:sp>
        <p:nvSpPr>
          <p:cNvPr id="11" name="cn10"/>
          <p:cNvSpPr/>
          <p:nvPr/>
        </p:nvSpPr>
        <p:spPr>
          <a:xfrm>
            <a:off x="702920" y="2790000"/>
            <a:ext cx="5200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uk-UA" sz="1600" b="1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</a:p>
        </p:txBody>
      </p:sp>
      <p:sp>
        <p:nvSpPr>
          <p:cNvPr id="12" name="t12"/>
          <p:cNvSpPr/>
          <p:nvPr/>
        </p:nvSpPr>
        <p:spPr>
          <a:xfrm>
            <a:off x="1422920" y="2750000"/>
            <a:ext cx="31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uk-UA" sz="1400" b="1" kern="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Дві мови (UA / EN)</a:t>
            </a:r>
          </a:p>
        </p:txBody>
      </p:sp>
      <p:sp>
        <p:nvSpPr>
          <p:cNvPr id="13" name="t13"/>
          <p:cNvSpPr/>
          <p:nvPr/>
        </p:nvSpPr>
        <p:spPr>
          <a:xfrm>
            <a:off x="1422920" y="3070000"/>
            <a:ext cx="31000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uk-UA" sz="1100" kern="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Перемикання мови без перезапуску завдяки i18next.</a:t>
            </a:r>
          </a:p>
        </p:txBody>
      </p:sp>
      <p:sp>
        <p:nvSpPr>
          <p:cNvPr id="14" name="card14"/>
          <p:cNvSpPr/>
          <p:nvPr/>
        </p:nvSpPr>
        <p:spPr>
          <a:xfrm>
            <a:off x="502920" y="3700000"/>
            <a:ext cx="4180000" cy="90000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e15"/>
          <p:cNvSpPr/>
          <p:nvPr/>
        </p:nvSpPr>
        <p:spPr>
          <a:xfrm>
            <a:off x="702920" y="3890000"/>
            <a:ext cx="520000" cy="520000"/>
          </a:xfrm>
          <a:prstGeom prst="ellipse">
            <a:avLst/>
          </a:prstGeom>
          <a:solidFill>
            <a:srgbClr val="007AFF"/>
          </a:solidFill>
          <a:ln/>
        </p:spPr>
      </p:sp>
      <p:sp>
        <p:nvSpPr>
          <p:cNvPr id="16" name="cn15"/>
          <p:cNvSpPr/>
          <p:nvPr/>
        </p:nvSpPr>
        <p:spPr>
          <a:xfrm>
            <a:off x="702920" y="3890000"/>
            <a:ext cx="5200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uk-UA" sz="1600" b="1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</a:p>
        </p:txBody>
      </p:sp>
      <p:sp>
        <p:nvSpPr>
          <p:cNvPr id="17" name="t17"/>
          <p:cNvSpPr/>
          <p:nvPr/>
        </p:nvSpPr>
        <p:spPr>
          <a:xfrm>
            <a:off x="1422920" y="3850000"/>
            <a:ext cx="31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uk-UA" sz="1400" b="1" kern="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Локалізований календар</a:t>
            </a:r>
          </a:p>
        </p:txBody>
      </p:sp>
      <p:sp>
        <p:nvSpPr>
          <p:cNvPr id="18" name="t18"/>
          <p:cNvSpPr/>
          <p:nvPr/>
        </p:nvSpPr>
        <p:spPr>
          <a:xfrm>
            <a:off x="1422920" y="4170000"/>
            <a:ext cx="31000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uk-UA" sz="1100" kern="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Назви місяців і днів змінюються разом із мовою інтерфейсу.</a:t>
            </a:r>
          </a:p>
        </p:txBody>
      </p:sp>
      <p:sp>
        <p:nvSpPr>
          <p:cNvPr id="19" name="card19"/>
          <p:cNvSpPr/>
          <p:nvPr/>
        </p:nvSpPr>
        <p:spPr>
          <a:xfrm>
            <a:off x="6150000" y="1320000"/>
            <a:ext cx="1667500" cy="331000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0" name="pic20" descr="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5000" y="1375000"/>
            <a:ext cx="1557500" cy="3200000"/>
          </a:xfrm>
          <a:prstGeom prst="rect">
            <a:avLst/>
          </a:prstGeom>
        </p:spPr>
      </p:pic>
      <p:sp>
        <p:nvSpPr>
          <p:cNvPr id="21" name="t21"/>
          <p:cNvSpPr/>
          <p:nvPr/>
        </p:nvSpPr>
        <p:spPr>
          <a:xfrm>
            <a:off x="6150000" y="4700000"/>
            <a:ext cx="16675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uk-UA" sz="1050" b="1" kern="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Екран налаштувань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7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</a:t>
            </a:r>
            <a:r>
              <a:rPr lang="en-US" sz="1100" b="1" kern="0" spc="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ТЕСТУВАННЯ ТА РЕЗУЛЬТАТИ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Якість і продуктивність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267004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645920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34C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49808" y="2331720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тест-кейсів — усі PASS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36976" y="1463040"/>
            <a:ext cx="267004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65576" y="1645920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007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483864" y="2331720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виправлених помилок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71032" y="1463040"/>
            <a:ext cx="267004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99632" y="1645920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6217920" y="2331720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пристроїв · Android 10–13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017520"/>
            <a:ext cx="2670048" cy="1371600"/>
          </a:xfrm>
          <a:prstGeom prst="roundRect">
            <a:avLst>
              <a:gd name="adj" fmla="val 5333"/>
            </a:avLst>
          </a:prstGeom>
          <a:solidFill>
            <a:srgbClr val="F2F6FC"/>
          </a:solidFill>
          <a:ln/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" y="3200400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007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2,3 с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749808" y="3886200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холодний запуск (≤ 3 с)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36976" y="3017520"/>
            <a:ext cx="2670048" cy="1371600"/>
          </a:xfrm>
          <a:prstGeom prst="roundRect">
            <a:avLst>
              <a:gd name="adj" fmla="val 5333"/>
            </a:avLst>
          </a:prstGeom>
          <a:solidFill>
            <a:srgbClr val="F2F6FC"/>
          </a:solidFill>
          <a:ln/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465576" y="3200400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34C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80–120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3483864" y="3886200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мс відгук (≤ 500 мс)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71032" y="3017520"/>
            <a:ext cx="2670048" cy="1371600"/>
          </a:xfrm>
          <a:prstGeom prst="roundRect">
            <a:avLst>
              <a:gd name="adj" fmla="val 5333"/>
            </a:avLst>
          </a:prstGeom>
          <a:solidFill>
            <a:srgbClr val="F2F6FC"/>
          </a:solidFill>
          <a:ln/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199632" y="3200400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6217920" y="3886200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видів тестування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B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ВИСНОВКИ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Мету досягнуто — розроблено готовий продукт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457200" cy="457200"/>
          </a:xfrm>
          <a:prstGeom prst="ellipse">
            <a:avLst/>
          </a:prstGeom>
          <a:solidFill>
            <a:srgbClr val="13315C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1993392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8562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Повнофункціональний офлайн-планер без реєстрації та Інтернету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2478024"/>
            <a:ext cx="457200" cy="457200"/>
          </a:xfrm>
          <a:prstGeom prst="ellipse">
            <a:avLst/>
          </a:prstGeom>
          <a:solidFill>
            <a:srgbClr val="13315C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2596896"/>
            <a:ext cx="219456" cy="219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80160" y="2459736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Трирівнева архітектура з чітким розподілом відповідальності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640080" y="3081528"/>
            <a:ext cx="457200" cy="457200"/>
          </a:xfrm>
          <a:prstGeom prst="ellipse">
            <a:avLst/>
          </a:prstGeom>
          <a:solidFill>
            <a:srgbClr val="13315C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" y="3200400"/>
            <a:ext cx="219456" cy="21945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80160" y="30632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Локальні нагадування, статистика виконання, дві мови та теми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640080" y="3685032"/>
            <a:ext cx="457200" cy="457200"/>
          </a:xfrm>
          <a:prstGeom prst="ellipse">
            <a:avLst/>
          </a:prstGeom>
          <a:solidFill>
            <a:srgbClr val="13315C"/>
          </a:solidFill>
          <a:ln/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952" y="3803904"/>
            <a:ext cx="219456" cy="21945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80160" y="3666744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тест-кейсів PASS, продуктивність із запасом, готовність до Google Play</a:t>
            </a:r>
            <a:endParaRPr lang="en-US" sz="1500" dirty="0"/>
          </a:p>
        </p:txBody>
      </p:sp>
      <p:sp>
        <p:nvSpPr>
          <p:cNvPr id="16" name="Text 10"/>
          <p:cNvSpPr/>
          <p:nvPr/>
        </p:nvSpPr>
        <p:spPr>
          <a:xfrm>
            <a:off x="548640" y="44348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4C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Дякую за увагу!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1502</Words>
  <Application>Microsoft Office PowerPoint</Application>
  <PresentationFormat>Екран (16:9)</PresentationFormat>
  <Paragraphs>216</Paragraphs>
  <Slides>14</Slides>
  <Notes>10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PlannerApp — захист</dc:title>
  <dc:subject>PptxGenJS Presentation</dc:subject>
  <dc:creator>Люкшина Д.В.</dc:creator>
  <cp:lastModifiedBy>dimator126@gmail.com</cp:lastModifiedBy>
  <cp:revision>1</cp:revision>
  <dcterms:created xsi:type="dcterms:W3CDTF">2026-06-12T21:17:57Z</dcterms:created>
  <dcterms:modified xsi:type="dcterms:W3CDTF">2026-06-21T20:39:33Z</dcterms:modified>
</cp:coreProperties>
</file>