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4" r:id="rId4"/>
    <p:sldId id="266" r:id="rId5"/>
    <p:sldId id="267" r:id="rId6"/>
    <p:sldId id="268" r:id="rId7"/>
    <p:sldId id="269" r:id="rId8"/>
    <p:sldId id="270" r:id="rId9"/>
    <p:sldId id="274" r:id="rId10"/>
    <p:sldId id="275" r:id="rId11"/>
    <p:sldId id="273" r:id="rId12"/>
    <p:sldId id="277" r:id="rId13"/>
    <p:sldId id="276" r:id="rId14"/>
    <p:sldId id="271" r:id="rId15"/>
    <p:sldId id="272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Помірний стиль 2 –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Аркуш1!$B$1</c:f>
              <c:strCache>
                <c:ptCount val="1"/>
                <c:pt idx="0">
                  <c:v>Види тестування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18C2-4EDD-BD97-AF93DD5061A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F52-426C-87A1-7C23292E9CA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F52-426C-87A1-7C23292E9CA8}"/>
              </c:ext>
            </c:extLst>
          </c:dPt>
          <c:cat>
            <c:strRef>
              <c:f>Аркуш1!$A$2:$A$4</c:f>
              <c:strCache>
                <c:ptCount val="3"/>
                <c:pt idx="0">
                  <c:v>Модульні тести</c:v>
                </c:pt>
                <c:pt idx="1">
                  <c:v>Інтеграційні тести</c:v>
                </c:pt>
                <c:pt idx="2">
                  <c:v>Системні тести</c:v>
                </c:pt>
              </c:strCache>
            </c:strRef>
          </c:cat>
          <c:val>
            <c:numRef>
              <c:f>Аркуш1!$B$2:$B$4</c:f>
              <c:numCache>
                <c:formatCode>General</c:formatCode>
                <c:ptCount val="3"/>
                <c:pt idx="0">
                  <c:v>15</c:v>
                </c:pt>
                <c:pt idx="1">
                  <c:v>11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2-4EDD-BD97-AF93DD5061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dirty="0"/>
              <a:t>Успішність тестування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Аркуш1!$B$1</c:f>
              <c:strCache>
                <c:ptCount val="1"/>
                <c:pt idx="0">
                  <c:v>Всього тестів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Аркуш1!$A$2:$A$5</c:f>
              <c:strCache>
                <c:ptCount val="4"/>
                <c:pt idx="0">
                  <c:v>Модульні</c:v>
                </c:pt>
                <c:pt idx="1">
                  <c:v>Інтеграційні</c:v>
                </c:pt>
                <c:pt idx="2">
                  <c:v>Системні</c:v>
                </c:pt>
                <c:pt idx="3">
                  <c:v>ВСЬОГО</c:v>
                </c:pt>
              </c:strCache>
            </c:strRef>
          </c:cat>
          <c:val>
            <c:numRef>
              <c:f>Аркуш1!$B$2:$B$5</c:f>
              <c:numCache>
                <c:formatCode>General</c:formatCode>
                <c:ptCount val="4"/>
                <c:pt idx="0">
                  <c:v>15</c:v>
                </c:pt>
                <c:pt idx="1">
                  <c:v>11</c:v>
                </c:pt>
                <c:pt idx="2">
                  <c:v>12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B-4748-B786-46F411E8B5D2}"/>
            </c:ext>
          </c:extLst>
        </c:ser>
        <c:ser>
          <c:idx val="1"/>
          <c:order val="1"/>
          <c:tx>
            <c:strRef>
              <c:f>Аркуш1!$C$1</c:f>
              <c:strCache>
                <c:ptCount val="1"/>
                <c:pt idx="0">
                  <c:v>Успішно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Аркуш1!$A$2:$A$5</c:f>
              <c:strCache>
                <c:ptCount val="4"/>
                <c:pt idx="0">
                  <c:v>Модульні</c:v>
                </c:pt>
                <c:pt idx="1">
                  <c:v>Інтеграційні</c:v>
                </c:pt>
                <c:pt idx="2">
                  <c:v>Системні</c:v>
                </c:pt>
                <c:pt idx="3">
                  <c:v>ВСЬОГО</c:v>
                </c:pt>
              </c:strCache>
            </c:strRef>
          </c:cat>
          <c:val>
            <c:numRef>
              <c:f>Аркуш1!$C$2:$C$5</c:f>
              <c:numCache>
                <c:formatCode>General</c:formatCode>
                <c:ptCount val="4"/>
                <c:pt idx="0">
                  <c:v>15</c:v>
                </c:pt>
                <c:pt idx="1">
                  <c:v>11</c:v>
                </c:pt>
                <c:pt idx="2">
                  <c:v>12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4B-4748-B786-46F411E8B5D2}"/>
            </c:ext>
          </c:extLst>
        </c:ser>
        <c:ser>
          <c:idx val="2"/>
          <c:order val="2"/>
          <c:tx>
            <c:strRef>
              <c:f>Аркуш1!$D$1</c:f>
              <c:strCache>
                <c:ptCount val="1"/>
                <c:pt idx="0">
                  <c:v>Неуспішно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Аркуш1!$A$2:$A$5</c:f>
              <c:strCache>
                <c:ptCount val="4"/>
                <c:pt idx="0">
                  <c:v>Модульні</c:v>
                </c:pt>
                <c:pt idx="1">
                  <c:v>Інтеграційні</c:v>
                </c:pt>
                <c:pt idx="2">
                  <c:v>Системні</c:v>
                </c:pt>
                <c:pt idx="3">
                  <c:v>ВСЬОГО</c:v>
                </c:pt>
              </c:strCache>
            </c:strRef>
          </c:cat>
          <c:val>
            <c:numRef>
              <c:f>Аркуш1!$D$2:$D$5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4B-4748-B786-46F411E8B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8212336"/>
        <c:axId val="628201296"/>
      </c:barChart>
      <c:catAx>
        <c:axId val="628212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28201296"/>
        <c:crosses val="autoZero"/>
        <c:auto val="1"/>
        <c:lblAlgn val="ctr"/>
        <c:lblOffset val="100"/>
        <c:noMultiLvlLbl val="0"/>
      </c:catAx>
      <c:valAx>
        <c:axId val="628201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628212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178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052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857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784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117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221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146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328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926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041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4704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83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5786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2103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23340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667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222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469C7-7A18-420B-9F24-B22881DB6879}" type="datetimeFigureOut">
              <a:rPr lang="uk-UA" smtClean="0"/>
              <a:t>20.06.2026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CE0D5-5C55-4BFC-BE1E-AE8A66767DF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7650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BC338-85F4-9C6B-F879-51B2C2364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465" y="-53993"/>
            <a:ext cx="6719101" cy="1520984"/>
          </a:xfrm>
        </p:spPr>
        <p:txBody>
          <a:bodyPr>
            <a:normAutofit/>
          </a:bodyPr>
          <a:lstStyle/>
          <a:p>
            <a:pPr latinLnBrk="1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ВАСИЛЬКІВСЬКИЙ ФАХОВИЙ КОЛЕДЖ ДНП «ДУ «КИЇВСЬКИЙ АВІАЦІЙНИЙ ІНСТИТУТ»</a:t>
            </a:r>
            <a:endParaRPr lang="uk-UA" sz="24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682081C-7C42-3480-F551-F4647DE09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5" y="6259513"/>
            <a:ext cx="9144000" cy="598487"/>
          </a:xfrm>
        </p:spPr>
        <p:txBody>
          <a:bodyPr/>
          <a:lstStyle/>
          <a:p>
            <a:pPr algn="ctr"/>
            <a:r>
              <a:rPr lang="uk-U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Васильків – 2026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40AF9-511D-618B-ED8F-EE1FDAF7AD27}"/>
              </a:ext>
            </a:extLst>
          </p:cNvPr>
          <p:cNvSpPr txBox="1"/>
          <p:nvPr/>
        </p:nvSpPr>
        <p:spPr>
          <a:xfrm>
            <a:off x="8373979" y="4919484"/>
            <a:ext cx="3818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dirty="0"/>
              <a:t>Виконав студент групи 641</a:t>
            </a:r>
          </a:p>
          <a:p>
            <a:pPr algn="r"/>
            <a:r>
              <a:rPr lang="uk-UA" dirty="0" err="1"/>
              <a:t>Бєлошапка</a:t>
            </a:r>
            <a:r>
              <a:rPr lang="uk-UA" dirty="0"/>
              <a:t> П.М.</a:t>
            </a:r>
          </a:p>
          <a:p>
            <a:pPr algn="r"/>
            <a:r>
              <a:rPr lang="uk-UA" dirty="0"/>
              <a:t>Керівник кваліфікаційної роботи:</a:t>
            </a:r>
          </a:p>
          <a:p>
            <a:pPr algn="r"/>
            <a:r>
              <a:rPr lang="uk-UA" dirty="0"/>
              <a:t>Галич Н.С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757C1-B32F-3E31-77BF-AD1EA165A31E}"/>
              </a:ext>
            </a:extLst>
          </p:cNvPr>
          <p:cNvSpPr txBox="1"/>
          <p:nvPr/>
        </p:nvSpPr>
        <p:spPr>
          <a:xfrm>
            <a:off x="2859465" y="2910610"/>
            <a:ext cx="7529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ДОДАТКА ДЛЯ ВАНТАЖОПЕРЕВЕЗЕНЬ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74935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5F148-B005-BA41-263A-C0298655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238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uk-UA" sz="1800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 </a:t>
            </a:r>
            <a:r>
              <a:rPr lang="uk-UA" sz="3200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теми</a:t>
            </a:r>
            <a:br>
              <a:rPr lang="uk-UA" sz="1800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uk-UA" sz="1800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7FE33783-DFE5-545D-FBE0-7D54CE36C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649069"/>
              </p:ext>
            </p:extLst>
          </p:nvPr>
        </p:nvGraphicFramePr>
        <p:xfrm>
          <a:off x="952499" y="1581150"/>
          <a:ext cx="10442576" cy="43829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21288">
                  <a:extLst>
                    <a:ext uri="{9D8B030D-6E8A-4147-A177-3AD203B41FA5}">
                      <a16:colId xmlns:a16="http://schemas.microsoft.com/office/drawing/2014/main" val="582174357"/>
                    </a:ext>
                  </a:extLst>
                </a:gridCol>
                <a:gridCol w="5221288">
                  <a:extLst>
                    <a:ext uri="{9D8B030D-6E8A-4147-A177-3AD203B41FA5}">
                      <a16:colId xmlns:a16="http://schemas.microsoft.com/office/drawing/2014/main" val="2019312631"/>
                    </a:ext>
                  </a:extLst>
                </a:gridCol>
              </a:tblGrid>
              <a:tr h="36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Рішення в додатку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96105"/>
                  </a:ext>
                </a:extLst>
              </a:tr>
              <a:tr h="911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Замовлення оформлюються по телефону, що займає багато часу та може призводити до помилок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Швидке оформлення замовлення через мобільний додаток за 1–2 хвилини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752064"/>
                  </a:ext>
                </a:extLst>
              </a:tr>
              <a:tr h="911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Вартість перевезення розраховується вручну, що підвищує ризик неправильних розрахунків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Автоматичний розрахунок вартості на основі введених параметрів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340032"/>
                  </a:ext>
                </a:extLst>
              </a:tr>
              <a:tr h="637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Клієнт не має можливості відстежувати місцезнаходження вантажу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Відображення маршруту та поточного місця знаходження на карті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230121"/>
                  </a:ext>
                </a:extLst>
              </a:tr>
              <a:tr h="637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Дані зберігаються в паперових журналах і можуть бути втрачені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Централізоване зберігання всієї інформації в базі даних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926088"/>
                  </a:ext>
                </a:extLst>
              </a:tr>
              <a:tr h="911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Використання сторонніх сервісів супроводжується високими комісіями (15–25%)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Власна система без додаткових комісій для користувачів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0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42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5A614AC1-F82E-1326-B348-47FAA2F34DA9}"/>
              </a:ext>
            </a:extLst>
          </p:cNvPr>
          <p:cNvSpPr/>
          <p:nvPr/>
        </p:nvSpPr>
        <p:spPr>
          <a:xfrm>
            <a:off x="1028700" y="228600"/>
            <a:ext cx="9829800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Додатки для вантажоперевезення дозволяють</a:t>
            </a:r>
          </a:p>
        </p:txBody>
      </p:sp>
      <p:sp>
        <p:nvSpPr>
          <p:cNvPr id="3" name="Стрілка: униз 2">
            <a:extLst>
              <a:ext uri="{FF2B5EF4-FFF2-40B4-BE49-F238E27FC236}">
                <a16:creationId xmlns:a16="http://schemas.microsoft.com/office/drawing/2014/main" id="{422F656A-465B-4166-A9EA-2BCDBBD32C1D}"/>
              </a:ext>
            </a:extLst>
          </p:cNvPr>
          <p:cNvSpPr/>
          <p:nvPr/>
        </p:nvSpPr>
        <p:spPr>
          <a:xfrm>
            <a:off x="1727200" y="10541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Стрілка: униз 4">
            <a:extLst>
              <a:ext uri="{FF2B5EF4-FFF2-40B4-BE49-F238E27FC236}">
                <a16:creationId xmlns:a16="http://schemas.microsoft.com/office/drawing/2014/main" id="{8346FBAC-EA5C-E748-1DB3-E1CC9E82491D}"/>
              </a:ext>
            </a:extLst>
          </p:cNvPr>
          <p:cNvSpPr/>
          <p:nvPr/>
        </p:nvSpPr>
        <p:spPr>
          <a:xfrm>
            <a:off x="9169400" y="10541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A98707F6-9CAB-E881-A366-5A94B4E40471}"/>
              </a:ext>
            </a:extLst>
          </p:cNvPr>
          <p:cNvSpPr/>
          <p:nvPr/>
        </p:nvSpPr>
        <p:spPr>
          <a:xfrm>
            <a:off x="247650" y="1879600"/>
            <a:ext cx="4305300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Постачальникам товарів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4E8C144B-29B4-1A90-F1F4-43EC5D60D5E0}"/>
              </a:ext>
            </a:extLst>
          </p:cNvPr>
          <p:cNvSpPr/>
          <p:nvPr/>
        </p:nvSpPr>
        <p:spPr>
          <a:xfrm>
            <a:off x="7639052" y="1879600"/>
            <a:ext cx="4305298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Клієнтам</a:t>
            </a: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95C2F225-101A-9BF9-3F79-06996F87D206}"/>
              </a:ext>
            </a:extLst>
          </p:cNvPr>
          <p:cNvSpPr/>
          <p:nvPr/>
        </p:nvSpPr>
        <p:spPr>
          <a:xfrm>
            <a:off x="196851" y="3975100"/>
            <a:ext cx="4305298" cy="1651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Приймати і обробляти замовлення від клієнтів набагато швидше, представляти різноманітні послуги по вантажоперевезенню в додатку</a:t>
            </a: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BD477798-CF65-FD44-38F3-19163163DE37}"/>
              </a:ext>
            </a:extLst>
          </p:cNvPr>
          <p:cNvSpPr/>
          <p:nvPr/>
        </p:nvSpPr>
        <p:spPr>
          <a:xfrm>
            <a:off x="7550152" y="3975100"/>
            <a:ext cx="4305298" cy="1651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Переглядати каталог послуг і оформляти замовлення так слідкувати за своїм замовленням</a:t>
            </a:r>
          </a:p>
        </p:txBody>
      </p:sp>
      <p:sp>
        <p:nvSpPr>
          <p:cNvPr id="14" name="Стрілка: униз 13">
            <a:extLst>
              <a:ext uri="{FF2B5EF4-FFF2-40B4-BE49-F238E27FC236}">
                <a16:creationId xmlns:a16="http://schemas.microsoft.com/office/drawing/2014/main" id="{F9F39F16-414F-D2A9-0627-9F53A39FE215}"/>
              </a:ext>
            </a:extLst>
          </p:cNvPr>
          <p:cNvSpPr/>
          <p:nvPr/>
        </p:nvSpPr>
        <p:spPr>
          <a:xfrm>
            <a:off x="1727200" y="31496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Стрілка: униз 15">
            <a:extLst>
              <a:ext uri="{FF2B5EF4-FFF2-40B4-BE49-F238E27FC236}">
                <a16:creationId xmlns:a16="http://schemas.microsoft.com/office/drawing/2014/main" id="{F8473173-1C13-E6C5-7EA1-CD1A2FEC7A21}"/>
              </a:ext>
            </a:extLst>
          </p:cNvPr>
          <p:cNvSpPr/>
          <p:nvPr/>
        </p:nvSpPr>
        <p:spPr>
          <a:xfrm>
            <a:off x="9169400" y="31496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025345-40E9-4E5A-B1D8-62F5D2E6E860}"/>
              </a:ext>
            </a:extLst>
          </p:cNvPr>
          <p:cNvSpPr txBox="1"/>
          <p:nvPr/>
        </p:nvSpPr>
        <p:spPr>
          <a:xfrm>
            <a:off x="0" y="602700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МОЖЛИВОСТІ, ЩО НАДАЄ ДОДАТОК ДЛЯ ВАНТАЖОПЕРЕВЕЗЕНЬ</a:t>
            </a:r>
          </a:p>
        </p:txBody>
      </p:sp>
    </p:spTree>
    <p:extLst>
      <p:ext uri="{BB962C8B-B14F-4D97-AF65-F5344CB8AC3E}">
        <p14:creationId xmlns:p14="http://schemas.microsoft.com/office/powerpoint/2010/main" val="180927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EC977FAD-61B3-C24E-2426-FE7844D3BA2F}"/>
              </a:ext>
            </a:extLst>
          </p:cNvPr>
          <p:cNvSpPr/>
          <p:nvPr/>
        </p:nvSpPr>
        <p:spPr>
          <a:xfrm>
            <a:off x="1028700" y="228600"/>
            <a:ext cx="9829800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ВИДИ ДОДАТКІВ ДЛЯ ВАНТАЖОПЕРЕВЕЗЕННЯ</a:t>
            </a:r>
          </a:p>
        </p:txBody>
      </p:sp>
      <p:sp>
        <p:nvSpPr>
          <p:cNvPr id="6" name="Стрілка: униз 5">
            <a:extLst>
              <a:ext uri="{FF2B5EF4-FFF2-40B4-BE49-F238E27FC236}">
                <a16:creationId xmlns:a16="http://schemas.microsoft.com/office/drawing/2014/main" id="{610E6FAD-3985-E91A-5F11-0DA6F989E9E0}"/>
              </a:ext>
            </a:extLst>
          </p:cNvPr>
          <p:cNvSpPr/>
          <p:nvPr/>
        </p:nvSpPr>
        <p:spPr>
          <a:xfrm>
            <a:off x="1727200" y="10541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Стрілка: униз 7">
            <a:extLst>
              <a:ext uri="{FF2B5EF4-FFF2-40B4-BE49-F238E27FC236}">
                <a16:creationId xmlns:a16="http://schemas.microsoft.com/office/drawing/2014/main" id="{0A1FD5D3-B15F-EA79-474D-A883DDDA86BD}"/>
              </a:ext>
            </a:extLst>
          </p:cNvPr>
          <p:cNvSpPr/>
          <p:nvPr/>
        </p:nvSpPr>
        <p:spPr>
          <a:xfrm>
            <a:off x="9169400" y="10541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47C50B80-A2FE-7BAF-4600-31964BACC3E6}"/>
              </a:ext>
            </a:extLst>
          </p:cNvPr>
          <p:cNvSpPr/>
          <p:nvPr/>
        </p:nvSpPr>
        <p:spPr>
          <a:xfrm>
            <a:off x="1323974" y="1879600"/>
            <a:ext cx="1685925" cy="952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uk-UA" b="1" dirty="0"/>
              <a:t>Міжнародні логістичні платформи</a:t>
            </a:r>
            <a:endParaRPr lang="uk-UA" dirty="0"/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2F0912ED-F6D2-6CC0-0558-E1F699CBD345}"/>
              </a:ext>
            </a:extLst>
          </p:cNvPr>
          <p:cNvSpPr/>
          <p:nvPr/>
        </p:nvSpPr>
        <p:spPr>
          <a:xfrm>
            <a:off x="5013325" y="1890713"/>
            <a:ext cx="1543050" cy="952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uk-UA" b="1" dirty="0"/>
              <a:t>Вітчизняні сервіси</a:t>
            </a:r>
            <a:endParaRPr lang="uk-UA" dirty="0"/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BB103EB6-FD41-B019-BB75-E1E7D49788AF}"/>
              </a:ext>
            </a:extLst>
          </p:cNvPr>
          <p:cNvSpPr/>
          <p:nvPr/>
        </p:nvSpPr>
        <p:spPr>
          <a:xfrm>
            <a:off x="8710612" y="1890712"/>
            <a:ext cx="1762124" cy="952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uk-UA" b="1" dirty="0"/>
              <a:t>Універсальні засоби обліку</a:t>
            </a:r>
            <a:endParaRPr lang="uk-UA" dirty="0"/>
          </a:p>
        </p:txBody>
      </p:sp>
      <p:sp>
        <p:nvSpPr>
          <p:cNvPr id="13" name="Стрілка: униз 12">
            <a:extLst>
              <a:ext uri="{FF2B5EF4-FFF2-40B4-BE49-F238E27FC236}">
                <a16:creationId xmlns:a16="http://schemas.microsoft.com/office/drawing/2014/main" id="{9D369C07-40A2-C82D-FFEE-912E8EC2F5AD}"/>
              </a:ext>
            </a:extLst>
          </p:cNvPr>
          <p:cNvSpPr/>
          <p:nvPr/>
        </p:nvSpPr>
        <p:spPr>
          <a:xfrm>
            <a:off x="5448300" y="1054100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9442E9E1-6842-E972-A5A3-F48B041EFE96}"/>
              </a:ext>
            </a:extLst>
          </p:cNvPr>
          <p:cNvSpPr/>
          <p:nvPr/>
        </p:nvSpPr>
        <p:spPr>
          <a:xfrm>
            <a:off x="1533524" y="3262311"/>
            <a:ext cx="1590675" cy="395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err="1"/>
              <a:t>Uber</a:t>
            </a:r>
            <a:r>
              <a:rPr lang="uk-UA" dirty="0"/>
              <a:t> </a:t>
            </a:r>
            <a:r>
              <a:rPr lang="uk-UA" dirty="0" err="1"/>
              <a:t>Freight</a:t>
            </a:r>
            <a:r>
              <a:rPr lang="uk-UA" dirty="0"/>
              <a:t> 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59BDE0B0-25EC-5964-EF7C-891D38078FF8}"/>
              </a:ext>
            </a:extLst>
          </p:cNvPr>
          <p:cNvSpPr/>
          <p:nvPr/>
        </p:nvSpPr>
        <p:spPr>
          <a:xfrm>
            <a:off x="1533525" y="3962397"/>
            <a:ext cx="1200150" cy="3333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err="1"/>
              <a:t>Lalamove</a:t>
            </a:r>
            <a:endParaRPr lang="uk-UA" dirty="0"/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2B7307B2-FFFB-9CBD-A86B-1022CD5C6A9A}"/>
              </a:ext>
            </a:extLst>
          </p:cNvPr>
          <p:cNvSpPr/>
          <p:nvPr/>
        </p:nvSpPr>
        <p:spPr>
          <a:xfrm>
            <a:off x="5184774" y="3262312"/>
            <a:ext cx="1315085" cy="3333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err="1"/>
              <a:t>Lardi-Trans</a:t>
            </a:r>
            <a:endParaRPr lang="uk-UA" dirty="0"/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BED17233-996B-962C-3DCE-5F44E321CA3C}"/>
              </a:ext>
            </a:extLst>
          </p:cNvPr>
          <p:cNvSpPr/>
          <p:nvPr/>
        </p:nvSpPr>
        <p:spPr>
          <a:xfrm>
            <a:off x="5184774" y="3843896"/>
            <a:ext cx="1371601" cy="3333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Нова Пошта</a:t>
            </a:r>
          </a:p>
        </p:txBody>
      </p:sp>
      <p:sp>
        <p:nvSpPr>
          <p:cNvPr id="24" name="Прямокутник 23">
            <a:extLst>
              <a:ext uri="{FF2B5EF4-FFF2-40B4-BE49-F238E27FC236}">
                <a16:creationId xmlns:a16="http://schemas.microsoft.com/office/drawing/2014/main" id="{73D6873B-F2CE-CEA8-1685-A0AEA7FFDD21}"/>
              </a:ext>
            </a:extLst>
          </p:cNvPr>
          <p:cNvSpPr/>
          <p:nvPr/>
        </p:nvSpPr>
        <p:spPr>
          <a:xfrm>
            <a:off x="8882062" y="3262311"/>
            <a:ext cx="1590674" cy="5969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Excel, </a:t>
            </a:r>
            <a:r>
              <a:rPr lang="uk-UA" dirty="0" err="1"/>
              <a:t>Google</a:t>
            </a:r>
            <a:r>
              <a:rPr lang="uk-UA" dirty="0"/>
              <a:t> </a:t>
            </a:r>
            <a:r>
              <a:rPr lang="uk-UA" dirty="0" err="1"/>
              <a:t>Sheets</a:t>
            </a:r>
            <a:endParaRPr lang="uk-UA" dirty="0"/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D8324655-B32C-1703-8FA6-8BD696193A93}"/>
              </a:ext>
            </a:extLst>
          </p:cNvPr>
          <p:cNvSpPr/>
          <p:nvPr/>
        </p:nvSpPr>
        <p:spPr>
          <a:xfrm>
            <a:off x="8905873" y="4111624"/>
            <a:ext cx="1482726" cy="5969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прості CRM-системи</a:t>
            </a:r>
          </a:p>
        </p:txBody>
      </p:sp>
      <p:cxnSp>
        <p:nvCxnSpPr>
          <p:cNvPr id="28" name="Сполучна лінія: уступом 27">
            <a:extLst>
              <a:ext uri="{FF2B5EF4-FFF2-40B4-BE49-F238E27FC236}">
                <a16:creationId xmlns:a16="http://schemas.microsoft.com/office/drawing/2014/main" id="{99329581-0B3B-37DA-9195-8BD1048BCE1E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114819" y="3041251"/>
            <a:ext cx="627858" cy="2095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2" name="Сполучна лінія: уступом 31">
            <a:extLst>
              <a:ext uri="{FF2B5EF4-FFF2-40B4-BE49-F238E27FC236}">
                <a16:creationId xmlns:a16="http://schemas.microsoft.com/office/drawing/2014/main" id="{C9E1EEF6-1DE6-5C74-58F2-549FAA51ADDD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895826" y="3491385"/>
            <a:ext cx="1065845" cy="2095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6" name="Сполучна лінія: уступом 35">
            <a:extLst>
              <a:ext uri="{FF2B5EF4-FFF2-40B4-BE49-F238E27FC236}">
                <a16:creationId xmlns:a16="http://schemas.microsoft.com/office/drawing/2014/main" id="{7B71C28E-CEFF-8871-E578-22B2DD9932EC}"/>
              </a:ext>
            </a:extLst>
          </p:cNvPr>
          <p:cNvCxnSpPr>
            <a:cxnSpLocks/>
            <a:endCxn id="20" idx="1"/>
          </p:cNvCxnSpPr>
          <p:nvPr/>
        </p:nvCxnSpPr>
        <p:spPr>
          <a:xfrm rot="16200000" flipH="1">
            <a:off x="4800598" y="3044824"/>
            <a:ext cx="596902" cy="1714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1" name="Сполучна лінія: уступом 40">
            <a:extLst>
              <a:ext uri="{FF2B5EF4-FFF2-40B4-BE49-F238E27FC236}">
                <a16:creationId xmlns:a16="http://schemas.microsoft.com/office/drawing/2014/main" id="{2D5F4E24-4EB0-99EC-35B3-6E182F972E07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4620416" y="3446226"/>
            <a:ext cx="957266" cy="1714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Сполучна лінія: уступом 44">
            <a:extLst>
              <a:ext uri="{FF2B5EF4-FFF2-40B4-BE49-F238E27FC236}">
                <a16:creationId xmlns:a16="http://schemas.microsoft.com/office/drawing/2014/main" id="{58F81654-A1E2-87EA-3A22-A6AAA7EFE4FE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8461771" y="3140471"/>
            <a:ext cx="681038" cy="1595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6" name="Сполучна лінія: уступом 45">
            <a:extLst>
              <a:ext uri="{FF2B5EF4-FFF2-40B4-BE49-F238E27FC236}">
                <a16:creationId xmlns:a16="http://schemas.microsoft.com/office/drawing/2014/main" id="{611425FE-A3F0-CBCB-A5CE-4C34D5D2B5ED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8025207" y="3529409"/>
            <a:ext cx="1577978" cy="1833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73280C0-59B8-27DD-0392-42CA66EB3F33}"/>
              </a:ext>
            </a:extLst>
          </p:cNvPr>
          <p:cNvSpPr txBox="1"/>
          <p:nvPr/>
        </p:nvSpPr>
        <p:spPr>
          <a:xfrm>
            <a:off x="-376097" y="6260068"/>
            <a:ext cx="677199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ВИДИ ДОДАТКІВ ДЛЯ ВАНТАЖОПЕРЕВЕЗЕННЯ</a:t>
            </a:r>
          </a:p>
        </p:txBody>
      </p:sp>
    </p:spTree>
    <p:extLst>
      <p:ext uri="{BB962C8B-B14F-4D97-AF65-F5344CB8AC3E}">
        <p14:creationId xmlns:p14="http://schemas.microsoft.com/office/powerpoint/2010/main" val="137844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F308C87A-9B7C-AB30-C057-D25864992560}"/>
              </a:ext>
            </a:extLst>
          </p:cNvPr>
          <p:cNvSpPr/>
          <p:nvPr/>
        </p:nvSpPr>
        <p:spPr>
          <a:xfrm>
            <a:off x="1028700" y="228600"/>
            <a:ext cx="9829800" cy="6495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 ДОДАТКУ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TRUCK LOGISTICS PRO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uk-UA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Стрілка: униз 8">
            <a:extLst>
              <a:ext uri="{FF2B5EF4-FFF2-40B4-BE49-F238E27FC236}">
                <a16:creationId xmlns:a16="http://schemas.microsoft.com/office/drawing/2014/main" id="{B65DDA9B-A7A8-A255-92EF-14C5C1CD8249}"/>
              </a:ext>
            </a:extLst>
          </p:cNvPr>
          <p:cNvSpPr/>
          <p:nvPr/>
        </p:nvSpPr>
        <p:spPr>
          <a:xfrm>
            <a:off x="6243781" y="878186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34F3ADC6-F438-4B79-01CF-015233753B22}"/>
              </a:ext>
            </a:extLst>
          </p:cNvPr>
          <p:cNvSpPr/>
          <p:nvPr/>
        </p:nvSpPr>
        <p:spPr>
          <a:xfrm>
            <a:off x="5187636" y="1718272"/>
            <a:ext cx="2598763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Розраховувати вартість</a:t>
            </a:r>
          </a:p>
        </p:txBody>
      </p:sp>
      <p:sp>
        <p:nvSpPr>
          <p:cNvPr id="25" name="Стрілка: униз 24">
            <a:extLst>
              <a:ext uri="{FF2B5EF4-FFF2-40B4-BE49-F238E27FC236}">
                <a16:creationId xmlns:a16="http://schemas.microsoft.com/office/drawing/2014/main" id="{702AE45A-3199-DAE2-80D1-6FF2892DC7F9}"/>
              </a:ext>
            </a:extLst>
          </p:cNvPr>
          <p:cNvSpPr/>
          <p:nvPr/>
        </p:nvSpPr>
        <p:spPr>
          <a:xfrm>
            <a:off x="909467" y="892772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9EBB7465-B31F-D4DD-0081-76832B579866}"/>
              </a:ext>
            </a:extLst>
          </p:cNvPr>
          <p:cNvSpPr/>
          <p:nvPr/>
        </p:nvSpPr>
        <p:spPr>
          <a:xfrm>
            <a:off x="331852" y="1732858"/>
            <a:ext cx="1828329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 Створювати замовлення</a:t>
            </a:r>
          </a:p>
        </p:txBody>
      </p:sp>
      <p:sp>
        <p:nvSpPr>
          <p:cNvPr id="29" name="Стрілка: униз 28">
            <a:extLst>
              <a:ext uri="{FF2B5EF4-FFF2-40B4-BE49-F238E27FC236}">
                <a16:creationId xmlns:a16="http://schemas.microsoft.com/office/drawing/2014/main" id="{2893A2DE-6AF4-C8BD-8D43-A3A0CDDD7D6D}"/>
              </a:ext>
            </a:extLst>
          </p:cNvPr>
          <p:cNvSpPr/>
          <p:nvPr/>
        </p:nvSpPr>
        <p:spPr>
          <a:xfrm>
            <a:off x="2972148" y="878186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Прямокутник 30">
            <a:extLst>
              <a:ext uri="{FF2B5EF4-FFF2-40B4-BE49-F238E27FC236}">
                <a16:creationId xmlns:a16="http://schemas.microsoft.com/office/drawing/2014/main" id="{08D3238B-2A75-42A4-1605-27771591F8F2}"/>
              </a:ext>
            </a:extLst>
          </p:cNvPr>
          <p:cNvSpPr/>
          <p:nvPr/>
        </p:nvSpPr>
        <p:spPr>
          <a:xfrm>
            <a:off x="2394533" y="1718272"/>
            <a:ext cx="1828329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 Показувати маршрут на карті</a:t>
            </a:r>
          </a:p>
        </p:txBody>
      </p:sp>
      <p:sp>
        <p:nvSpPr>
          <p:cNvPr id="33" name="Стрілка: униз 32">
            <a:extLst>
              <a:ext uri="{FF2B5EF4-FFF2-40B4-BE49-F238E27FC236}">
                <a16:creationId xmlns:a16="http://schemas.microsoft.com/office/drawing/2014/main" id="{723FCDBE-2052-53B2-6946-404E4DDFE6B2}"/>
              </a:ext>
            </a:extLst>
          </p:cNvPr>
          <p:cNvSpPr/>
          <p:nvPr/>
        </p:nvSpPr>
        <p:spPr>
          <a:xfrm>
            <a:off x="9807318" y="892772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Прямокутник 34">
            <a:extLst>
              <a:ext uri="{FF2B5EF4-FFF2-40B4-BE49-F238E27FC236}">
                <a16:creationId xmlns:a16="http://schemas.microsoft.com/office/drawing/2014/main" id="{23AB39C3-F342-865A-57A7-688A6C744A89}"/>
              </a:ext>
            </a:extLst>
          </p:cNvPr>
          <p:cNvSpPr/>
          <p:nvPr/>
        </p:nvSpPr>
        <p:spPr>
          <a:xfrm>
            <a:off x="9279802" y="1718272"/>
            <a:ext cx="1925279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 Електронний гаманець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Стрілка: униз 36">
            <a:extLst>
              <a:ext uri="{FF2B5EF4-FFF2-40B4-BE49-F238E27FC236}">
                <a16:creationId xmlns:a16="http://schemas.microsoft.com/office/drawing/2014/main" id="{0DEC05FE-8290-2B92-62A4-1B134364A4FD}"/>
              </a:ext>
            </a:extLst>
          </p:cNvPr>
          <p:cNvSpPr/>
          <p:nvPr/>
        </p:nvSpPr>
        <p:spPr>
          <a:xfrm>
            <a:off x="8170661" y="878186"/>
            <a:ext cx="673100" cy="244456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Прямокутник 38">
            <a:extLst>
              <a:ext uri="{FF2B5EF4-FFF2-40B4-BE49-F238E27FC236}">
                <a16:creationId xmlns:a16="http://schemas.microsoft.com/office/drawing/2014/main" id="{A537E169-6F32-2AF7-4B94-BBF2D3D19435}"/>
              </a:ext>
            </a:extLst>
          </p:cNvPr>
          <p:cNvSpPr/>
          <p:nvPr/>
        </p:nvSpPr>
        <p:spPr>
          <a:xfrm>
            <a:off x="7641544" y="3337334"/>
            <a:ext cx="1926880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 Сповіщення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Стрілка: униз 40">
            <a:extLst>
              <a:ext uri="{FF2B5EF4-FFF2-40B4-BE49-F238E27FC236}">
                <a16:creationId xmlns:a16="http://schemas.microsoft.com/office/drawing/2014/main" id="{75A7567D-DE77-07EA-919F-799954CF82E0}"/>
              </a:ext>
            </a:extLst>
          </p:cNvPr>
          <p:cNvSpPr/>
          <p:nvPr/>
        </p:nvSpPr>
        <p:spPr>
          <a:xfrm>
            <a:off x="4322353" y="892772"/>
            <a:ext cx="673100" cy="244456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3" name="Прямокутник 42">
            <a:extLst>
              <a:ext uri="{FF2B5EF4-FFF2-40B4-BE49-F238E27FC236}">
                <a16:creationId xmlns:a16="http://schemas.microsoft.com/office/drawing/2014/main" id="{FA8C26FF-C292-D400-AD8A-E9F7265226AB}"/>
              </a:ext>
            </a:extLst>
          </p:cNvPr>
          <p:cNvSpPr/>
          <p:nvPr/>
        </p:nvSpPr>
        <p:spPr>
          <a:xfrm>
            <a:off x="3744738" y="3337334"/>
            <a:ext cx="1828329" cy="1270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 Розподіляти ролі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5590E5-4D18-D1B8-6825-F52E22E620EE}"/>
              </a:ext>
            </a:extLst>
          </p:cNvPr>
          <p:cNvSpPr txBox="1"/>
          <p:nvPr/>
        </p:nvSpPr>
        <p:spPr>
          <a:xfrm>
            <a:off x="0" y="6211669"/>
            <a:ext cx="670087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uk-UA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 ДОДАТКУ</a:t>
            </a:r>
            <a:r>
              <a:rPr lang="en-US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TRUCK LOGISTICS PRO</a:t>
            </a:r>
            <a:r>
              <a:rPr lang="en-US" b="1" i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uk-UA" b="1" i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60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A69FEAB3-3D0C-9095-9A91-CE4E28DCBD56}"/>
              </a:ext>
            </a:extLst>
          </p:cNvPr>
          <p:cNvSpPr/>
          <p:nvPr/>
        </p:nvSpPr>
        <p:spPr>
          <a:xfrm>
            <a:off x="1028700" y="228600"/>
            <a:ext cx="9829800" cy="6495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Хто користується програмою</a:t>
            </a:r>
          </a:p>
        </p:txBody>
      </p:sp>
      <p:sp>
        <p:nvSpPr>
          <p:cNvPr id="5" name="Стрілка: униз 4">
            <a:extLst>
              <a:ext uri="{FF2B5EF4-FFF2-40B4-BE49-F238E27FC236}">
                <a16:creationId xmlns:a16="http://schemas.microsoft.com/office/drawing/2014/main" id="{3BEBC483-C801-5071-2A75-0ECF0656A43A}"/>
              </a:ext>
            </a:extLst>
          </p:cNvPr>
          <p:cNvSpPr/>
          <p:nvPr/>
        </p:nvSpPr>
        <p:spPr>
          <a:xfrm>
            <a:off x="6430068" y="878186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Стрілка: униз 6">
            <a:extLst>
              <a:ext uri="{FF2B5EF4-FFF2-40B4-BE49-F238E27FC236}">
                <a16:creationId xmlns:a16="http://schemas.microsoft.com/office/drawing/2014/main" id="{393C29E2-8F82-8853-6199-23083A68C04C}"/>
              </a:ext>
            </a:extLst>
          </p:cNvPr>
          <p:cNvSpPr/>
          <p:nvPr/>
        </p:nvSpPr>
        <p:spPr>
          <a:xfrm>
            <a:off x="909467" y="892772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Стрілка: униз 8">
            <a:extLst>
              <a:ext uri="{FF2B5EF4-FFF2-40B4-BE49-F238E27FC236}">
                <a16:creationId xmlns:a16="http://schemas.microsoft.com/office/drawing/2014/main" id="{94D8D903-6301-FF22-A83B-524FAC063365}"/>
              </a:ext>
            </a:extLst>
          </p:cNvPr>
          <p:cNvSpPr/>
          <p:nvPr/>
        </p:nvSpPr>
        <p:spPr>
          <a:xfrm>
            <a:off x="3398711" y="878186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Стрілка: униз 10">
            <a:extLst>
              <a:ext uri="{FF2B5EF4-FFF2-40B4-BE49-F238E27FC236}">
                <a16:creationId xmlns:a16="http://schemas.microsoft.com/office/drawing/2014/main" id="{185A3BEF-2693-8331-4068-FD52B5CF3884}"/>
              </a:ext>
            </a:extLst>
          </p:cNvPr>
          <p:cNvSpPr/>
          <p:nvPr/>
        </p:nvSpPr>
        <p:spPr>
          <a:xfrm>
            <a:off x="9807318" y="892772"/>
            <a:ext cx="673100" cy="825500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CE0EEC82-5102-D0A9-DC25-BB109D36847E}"/>
              </a:ext>
            </a:extLst>
          </p:cNvPr>
          <p:cNvSpPr/>
          <p:nvPr/>
        </p:nvSpPr>
        <p:spPr>
          <a:xfrm>
            <a:off x="644437" y="1732858"/>
            <a:ext cx="1328741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</a:t>
            </a: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52AFC4BB-A01A-80D6-AC8D-680B0CC6D0BC}"/>
              </a:ext>
            </a:extLst>
          </p:cNvPr>
          <p:cNvSpPr/>
          <p:nvPr/>
        </p:nvSpPr>
        <p:spPr>
          <a:xfrm>
            <a:off x="3133682" y="1703686"/>
            <a:ext cx="1203158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ВОДІЙ</a:t>
            </a: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D3EA9C59-27C8-AE76-6B25-BB51E9CB1C96}"/>
              </a:ext>
            </a:extLst>
          </p:cNvPr>
          <p:cNvSpPr/>
          <p:nvPr/>
        </p:nvSpPr>
        <p:spPr>
          <a:xfrm>
            <a:off x="5887955" y="1703686"/>
            <a:ext cx="1894940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dirty="0"/>
              <a:t>МЕНЕДЖЕР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29F1E830-35EA-6D0D-17A9-0553B15B2E17}"/>
              </a:ext>
            </a:extLst>
          </p:cNvPr>
          <p:cNvSpPr/>
          <p:nvPr/>
        </p:nvSpPr>
        <p:spPr>
          <a:xfrm>
            <a:off x="9196397" y="1732858"/>
            <a:ext cx="1894941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dirty="0"/>
              <a:t>АДМІНІСТРАТОР</a:t>
            </a: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69AFBBAA-80DD-0BFB-C5FF-66058DCE6DF5}"/>
              </a:ext>
            </a:extLst>
          </p:cNvPr>
          <p:cNvSpPr/>
          <p:nvPr/>
        </p:nvSpPr>
        <p:spPr>
          <a:xfrm>
            <a:off x="724648" y="2835718"/>
            <a:ext cx="1291603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Замовляє </a:t>
            </a:r>
          </a:p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перевезення</a:t>
            </a:r>
          </a:p>
        </p:txBody>
      </p:sp>
      <p:sp>
        <p:nvSpPr>
          <p:cNvPr id="24" name="Прямокутник 23">
            <a:extLst>
              <a:ext uri="{FF2B5EF4-FFF2-40B4-BE49-F238E27FC236}">
                <a16:creationId xmlns:a16="http://schemas.microsoft.com/office/drawing/2014/main" id="{AC12C3C4-36CA-D085-8D16-691F7DC1D04F}"/>
              </a:ext>
            </a:extLst>
          </p:cNvPr>
          <p:cNvSpPr/>
          <p:nvPr/>
        </p:nvSpPr>
        <p:spPr>
          <a:xfrm>
            <a:off x="687510" y="3938579"/>
            <a:ext cx="1949330" cy="646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Оплачує електронним гаманцем</a:t>
            </a:r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74C41E24-7AED-2812-5666-750E5755C292}"/>
              </a:ext>
            </a:extLst>
          </p:cNvPr>
          <p:cNvSpPr/>
          <p:nvPr/>
        </p:nvSpPr>
        <p:spPr>
          <a:xfrm>
            <a:off x="687510" y="4862370"/>
            <a:ext cx="1745837" cy="646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Відстежує маршрут</a:t>
            </a:r>
          </a:p>
        </p:txBody>
      </p:sp>
      <p:sp>
        <p:nvSpPr>
          <p:cNvPr id="28" name="Прямокутник 27">
            <a:extLst>
              <a:ext uri="{FF2B5EF4-FFF2-40B4-BE49-F238E27FC236}">
                <a16:creationId xmlns:a16="http://schemas.microsoft.com/office/drawing/2014/main" id="{69DCC435-6BB6-6C13-7547-72CF8AA2D39D}"/>
              </a:ext>
            </a:extLst>
          </p:cNvPr>
          <p:cNvSpPr/>
          <p:nvPr/>
        </p:nvSpPr>
        <p:spPr>
          <a:xfrm>
            <a:off x="644437" y="5786161"/>
            <a:ext cx="1328741" cy="646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Звертається в підтримку</a:t>
            </a:r>
          </a:p>
        </p:txBody>
      </p:sp>
      <p:sp>
        <p:nvSpPr>
          <p:cNvPr id="30" name="Прямокутник 29">
            <a:extLst>
              <a:ext uri="{FF2B5EF4-FFF2-40B4-BE49-F238E27FC236}">
                <a16:creationId xmlns:a16="http://schemas.microsoft.com/office/drawing/2014/main" id="{87BDD0F5-FF3D-69D7-88E9-C1177EDD6368}"/>
              </a:ext>
            </a:extLst>
          </p:cNvPr>
          <p:cNvSpPr/>
          <p:nvPr/>
        </p:nvSpPr>
        <p:spPr>
          <a:xfrm>
            <a:off x="3224315" y="2835718"/>
            <a:ext cx="1694992" cy="51896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Отримує замовлень</a:t>
            </a:r>
          </a:p>
        </p:txBody>
      </p:sp>
      <p:sp>
        <p:nvSpPr>
          <p:cNvPr id="32" name="Прямокутник 31">
            <a:extLst>
              <a:ext uri="{FF2B5EF4-FFF2-40B4-BE49-F238E27FC236}">
                <a16:creationId xmlns:a16="http://schemas.microsoft.com/office/drawing/2014/main" id="{4B4D8D4B-1DDC-83AE-EE74-F88520ED1F82}"/>
              </a:ext>
            </a:extLst>
          </p:cNvPr>
          <p:cNvSpPr/>
          <p:nvPr/>
        </p:nvSpPr>
        <p:spPr>
          <a:xfrm>
            <a:off x="3224314" y="3785313"/>
            <a:ext cx="1694992" cy="646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Виконує доставку</a:t>
            </a:r>
          </a:p>
        </p:txBody>
      </p:sp>
      <p:sp>
        <p:nvSpPr>
          <p:cNvPr id="34" name="Прямокутник 33">
            <a:extLst>
              <a:ext uri="{FF2B5EF4-FFF2-40B4-BE49-F238E27FC236}">
                <a16:creationId xmlns:a16="http://schemas.microsoft.com/office/drawing/2014/main" id="{FA22D189-71F0-8FE2-0264-CA9ADDB04F69}"/>
              </a:ext>
            </a:extLst>
          </p:cNvPr>
          <p:cNvSpPr/>
          <p:nvPr/>
        </p:nvSpPr>
        <p:spPr>
          <a:xfrm>
            <a:off x="3224314" y="4862370"/>
            <a:ext cx="1694991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Змінює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стату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(виїхав, </a:t>
            </a: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даставив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тощо)</a:t>
            </a:r>
          </a:p>
        </p:txBody>
      </p: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0D53A45B-FF44-B4B7-145F-90EADF96F230}"/>
              </a:ext>
            </a:extLst>
          </p:cNvPr>
          <p:cNvSpPr/>
          <p:nvPr/>
        </p:nvSpPr>
        <p:spPr>
          <a:xfrm>
            <a:off x="3224314" y="5988229"/>
            <a:ext cx="1887498" cy="6495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Замовляє перевезення</a:t>
            </a:r>
          </a:p>
        </p:txBody>
      </p:sp>
      <p:sp>
        <p:nvSpPr>
          <p:cNvPr id="38" name="Прямокутник 37">
            <a:extLst>
              <a:ext uri="{FF2B5EF4-FFF2-40B4-BE49-F238E27FC236}">
                <a16:creationId xmlns:a16="http://schemas.microsoft.com/office/drawing/2014/main" id="{9B08C336-2CA8-B16D-6D7F-BA4F41CB01FE}"/>
              </a:ext>
            </a:extLst>
          </p:cNvPr>
          <p:cNvSpPr/>
          <p:nvPr/>
        </p:nvSpPr>
        <p:spPr>
          <a:xfrm>
            <a:off x="5989177" y="2816528"/>
            <a:ext cx="1694992" cy="51896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Відповідає на </a:t>
            </a:r>
          </a:p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звернення</a:t>
            </a:r>
          </a:p>
        </p:txBody>
      </p:sp>
      <p:sp>
        <p:nvSpPr>
          <p:cNvPr id="40" name="Прямокутник 39">
            <a:extLst>
              <a:ext uri="{FF2B5EF4-FFF2-40B4-BE49-F238E27FC236}">
                <a16:creationId xmlns:a16="http://schemas.microsoft.com/office/drawing/2014/main" id="{0E000C44-3196-CE41-D7DE-A7905848A553}"/>
              </a:ext>
            </a:extLst>
          </p:cNvPr>
          <p:cNvSpPr/>
          <p:nvPr/>
        </p:nvSpPr>
        <p:spPr>
          <a:xfrm>
            <a:off x="5989176" y="3766123"/>
            <a:ext cx="1694992" cy="646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Призначає водія</a:t>
            </a:r>
          </a:p>
        </p:txBody>
      </p:sp>
      <p:sp>
        <p:nvSpPr>
          <p:cNvPr id="42" name="Прямокутник 41">
            <a:extLst>
              <a:ext uri="{FF2B5EF4-FFF2-40B4-BE49-F238E27FC236}">
                <a16:creationId xmlns:a16="http://schemas.microsoft.com/office/drawing/2014/main" id="{EDD9D3E2-B33A-7546-B6DB-F549EBA5A838}"/>
              </a:ext>
            </a:extLst>
          </p:cNvPr>
          <p:cNvSpPr/>
          <p:nvPr/>
        </p:nvSpPr>
        <p:spPr>
          <a:xfrm>
            <a:off x="5989176" y="4843180"/>
            <a:ext cx="1793719" cy="825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Допомагає вирішити проблему</a:t>
            </a:r>
          </a:p>
        </p:txBody>
      </p:sp>
      <p:cxnSp>
        <p:nvCxnSpPr>
          <p:cNvPr id="46" name="Сполучна лінія: уступом 45">
            <a:extLst>
              <a:ext uri="{FF2B5EF4-FFF2-40B4-BE49-F238E27FC236}">
                <a16:creationId xmlns:a16="http://schemas.microsoft.com/office/drawing/2014/main" id="{7DEB0FC5-BA72-BB96-EB68-36F81DDB001B}"/>
              </a:ext>
            </a:extLst>
          </p:cNvPr>
          <p:cNvCxnSpPr>
            <a:cxnSpLocks/>
            <a:stCxn id="12" idx="1"/>
            <a:endCxn id="22" idx="1"/>
          </p:cNvCxnSpPr>
          <p:nvPr/>
        </p:nvCxnSpPr>
        <p:spPr>
          <a:xfrm rot="10800000" flipH="1" flipV="1">
            <a:off x="644436" y="2145608"/>
            <a:ext cx="80211" cy="1102860"/>
          </a:xfrm>
          <a:prstGeom prst="bentConnector3">
            <a:avLst>
              <a:gd name="adj1" fmla="val -284998"/>
            </a:avLst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50" name="Прямокутник 49">
            <a:extLst>
              <a:ext uri="{FF2B5EF4-FFF2-40B4-BE49-F238E27FC236}">
                <a16:creationId xmlns:a16="http://schemas.microsoft.com/office/drawing/2014/main" id="{D09A60B0-480A-B6E8-F7B2-14C6005F39D7}"/>
              </a:ext>
            </a:extLst>
          </p:cNvPr>
          <p:cNvSpPr/>
          <p:nvPr/>
        </p:nvSpPr>
        <p:spPr>
          <a:xfrm>
            <a:off x="9352499" y="2867330"/>
            <a:ext cx="1267876" cy="4870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Керує всією </a:t>
            </a:r>
          </a:p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системою</a:t>
            </a:r>
          </a:p>
        </p:txBody>
      </p:sp>
      <p:sp>
        <p:nvSpPr>
          <p:cNvPr id="52" name="Прямокутник 51">
            <a:extLst>
              <a:ext uri="{FF2B5EF4-FFF2-40B4-BE49-F238E27FC236}">
                <a16:creationId xmlns:a16="http://schemas.microsoft.com/office/drawing/2014/main" id="{EAD32523-79F5-0BBA-A560-371E4F9ABFA9}"/>
              </a:ext>
            </a:extLst>
          </p:cNvPr>
          <p:cNvSpPr/>
          <p:nvPr/>
        </p:nvSpPr>
        <p:spPr>
          <a:xfrm>
            <a:off x="9352498" y="3816925"/>
            <a:ext cx="1738840" cy="60664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Блокує користувачів</a:t>
            </a:r>
          </a:p>
        </p:txBody>
      </p:sp>
      <p:sp>
        <p:nvSpPr>
          <p:cNvPr id="54" name="Прямокутник 53">
            <a:extLst>
              <a:ext uri="{FF2B5EF4-FFF2-40B4-BE49-F238E27FC236}">
                <a16:creationId xmlns:a16="http://schemas.microsoft.com/office/drawing/2014/main" id="{DBA845E5-BF29-9B21-D909-CCC77E867D81}"/>
              </a:ext>
            </a:extLst>
          </p:cNvPr>
          <p:cNvSpPr/>
          <p:nvPr/>
        </p:nvSpPr>
        <p:spPr>
          <a:xfrm>
            <a:off x="9352499" y="4893982"/>
            <a:ext cx="1127920" cy="7746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Переглядає аналітику</a:t>
            </a:r>
          </a:p>
        </p:txBody>
      </p:sp>
      <p:sp>
        <p:nvSpPr>
          <p:cNvPr id="56" name="Прямокутник 55">
            <a:extLst>
              <a:ext uri="{FF2B5EF4-FFF2-40B4-BE49-F238E27FC236}">
                <a16:creationId xmlns:a16="http://schemas.microsoft.com/office/drawing/2014/main" id="{40F9F111-04F7-0912-C75A-759A06920D75}"/>
              </a:ext>
            </a:extLst>
          </p:cNvPr>
          <p:cNvSpPr/>
          <p:nvPr/>
        </p:nvSpPr>
        <p:spPr>
          <a:xfrm>
            <a:off x="9352498" y="5971392"/>
            <a:ext cx="1887498" cy="6464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Редагує тарифи</a:t>
            </a:r>
          </a:p>
        </p:txBody>
      </p:sp>
      <p:cxnSp>
        <p:nvCxnSpPr>
          <p:cNvPr id="58" name="Сполучна лінія: уступом 57">
            <a:extLst>
              <a:ext uri="{FF2B5EF4-FFF2-40B4-BE49-F238E27FC236}">
                <a16:creationId xmlns:a16="http://schemas.microsoft.com/office/drawing/2014/main" id="{7AA3D693-AAEE-E8D5-63F4-75DC8C22995E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8321" y="3582605"/>
            <a:ext cx="1085206" cy="2731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63" name="Сполучна лінія: уступом 62">
            <a:extLst>
              <a:ext uri="{FF2B5EF4-FFF2-40B4-BE49-F238E27FC236}">
                <a16:creationId xmlns:a16="http://schemas.microsoft.com/office/drawing/2014/main" id="{062D0309-58EC-84A1-11D4-88C5AF87FD4F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89028" y="4587103"/>
            <a:ext cx="923792" cy="2731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66" name="Сполучна лінія: уступом 65">
            <a:extLst>
              <a:ext uri="{FF2B5EF4-FFF2-40B4-BE49-F238E27FC236}">
                <a16:creationId xmlns:a16="http://schemas.microsoft.com/office/drawing/2014/main" id="{502FE4C4-C781-A0D8-75AD-91C9062D1E09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67491" y="5532430"/>
            <a:ext cx="923792" cy="2301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70" name="Сполучна лінія: уступом 69">
            <a:extLst>
              <a:ext uri="{FF2B5EF4-FFF2-40B4-BE49-F238E27FC236}">
                <a16:creationId xmlns:a16="http://schemas.microsoft.com/office/drawing/2014/main" id="{379FC4C3-9328-67B6-4E93-D94B28C0E0F6}"/>
              </a:ext>
            </a:extLst>
          </p:cNvPr>
          <p:cNvCxnSpPr>
            <a:cxnSpLocks/>
            <a:stCxn id="14" idx="1"/>
            <a:endCxn id="30" idx="1"/>
          </p:cNvCxnSpPr>
          <p:nvPr/>
        </p:nvCxnSpPr>
        <p:spPr>
          <a:xfrm rot="10800000" flipH="1" flipV="1">
            <a:off x="3133681" y="2116436"/>
            <a:ext cx="90633" cy="978766"/>
          </a:xfrm>
          <a:prstGeom prst="bentConnector3">
            <a:avLst>
              <a:gd name="adj1" fmla="val -244344"/>
            </a:avLst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75" name="Сполучна лінія: уступом 74">
            <a:extLst>
              <a:ext uri="{FF2B5EF4-FFF2-40B4-BE49-F238E27FC236}">
                <a16:creationId xmlns:a16="http://schemas.microsoft.com/office/drawing/2014/main" id="{D26FA64C-B9EE-B79F-135E-A686D327E9F4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2485095" y="3369308"/>
            <a:ext cx="1164137" cy="314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0" name="Сполучна лінія: уступом 79">
            <a:extLst>
              <a:ext uri="{FF2B5EF4-FFF2-40B4-BE49-F238E27FC236}">
                <a16:creationId xmlns:a16="http://schemas.microsoft.com/office/drawing/2014/main" id="{DC8ED76F-51AB-EF06-4A0E-3D613DC550CF}"/>
              </a:ext>
            </a:extLst>
          </p:cNvPr>
          <p:cNvCxnSpPr>
            <a:cxnSpLocks/>
            <a:endCxn id="34" idx="1"/>
          </p:cNvCxnSpPr>
          <p:nvPr/>
        </p:nvCxnSpPr>
        <p:spPr>
          <a:xfrm rot="16200000" flipH="1">
            <a:off x="2452000" y="4502806"/>
            <a:ext cx="1230326" cy="314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3" name="Сполучна лінія: уступом 82">
            <a:extLst>
              <a:ext uri="{FF2B5EF4-FFF2-40B4-BE49-F238E27FC236}">
                <a16:creationId xmlns:a16="http://schemas.microsoft.com/office/drawing/2014/main" id="{BBB72FB4-B15F-974D-95D0-49943C355F1A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2471576" y="5560284"/>
            <a:ext cx="1191172" cy="3143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8" name="Сполучна лінія: уступом 87">
            <a:extLst>
              <a:ext uri="{FF2B5EF4-FFF2-40B4-BE49-F238E27FC236}">
                <a16:creationId xmlns:a16="http://schemas.microsoft.com/office/drawing/2014/main" id="{0A3E9C08-64C3-85FC-4267-4DA26B74F001}"/>
              </a:ext>
            </a:extLst>
          </p:cNvPr>
          <p:cNvCxnSpPr>
            <a:cxnSpLocks/>
            <a:stCxn id="16" idx="1"/>
            <a:endCxn id="38" idx="1"/>
          </p:cNvCxnSpPr>
          <p:nvPr/>
        </p:nvCxnSpPr>
        <p:spPr>
          <a:xfrm rot="10800000" flipH="1" flipV="1">
            <a:off x="5887955" y="2116436"/>
            <a:ext cx="101222" cy="959576"/>
          </a:xfrm>
          <a:prstGeom prst="bentConnector3">
            <a:avLst>
              <a:gd name="adj1" fmla="val -225840"/>
            </a:avLst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90" name="Сполучна лінія: уступом 89">
            <a:extLst>
              <a:ext uri="{FF2B5EF4-FFF2-40B4-BE49-F238E27FC236}">
                <a16:creationId xmlns:a16="http://schemas.microsoft.com/office/drawing/2014/main" id="{1E0BA87C-BAA8-2E5E-E93B-D16410D63747}"/>
              </a:ext>
            </a:extLst>
          </p:cNvPr>
          <p:cNvCxnSpPr>
            <a:cxnSpLocks/>
            <a:endCxn id="40" idx="1"/>
          </p:cNvCxnSpPr>
          <p:nvPr/>
        </p:nvCxnSpPr>
        <p:spPr>
          <a:xfrm rot="16200000" flipH="1">
            <a:off x="5259944" y="3360105"/>
            <a:ext cx="1129523" cy="3289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95" name="Сполучна лінія: уступом 94">
            <a:extLst>
              <a:ext uri="{FF2B5EF4-FFF2-40B4-BE49-F238E27FC236}">
                <a16:creationId xmlns:a16="http://schemas.microsoft.com/office/drawing/2014/main" id="{396C3359-D2E5-37F5-DF60-CECED0D68362}"/>
              </a:ext>
            </a:extLst>
          </p:cNvPr>
          <p:cNvCxnSpPr>
            <a:cxnSpLocks/>
            <a:endCxn id="42" idx="1"/>
          </p:cNvCxnSpPr>
          <p:nvPr/>
        </p:nvCxnSpPr>
        <p:spPr>
          <a:xfrm rot="16200000" flipH="1">
            <a:off x="5228294" y="4495048"/>
            <a:ext cx="1192824" cy="328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99" name="Сполучна лінія: уступом 98">
            <a:extLst>
              <a:ext uri="{FF2B5EF4-FFF2-40B4-BE49-F238E27FC236}">
                <a16:creationId xmlns:a16="http://schemas.microsoft.com/office/drawing/2014/main" id="{F7F45BE8-7C47-C59A-9270-9C7706F33F8C}"/>
              </a:ext>
            </a:extLst>
          </p:cNvPr>
          <p:cNvCxnSpPr>
            <a:cxnSpLocks/>
            <a:stCxn id="18" idx="1"/>
            <a:endCxn id="50" idx="1"/>
          </p:cNvCxnSpPr>
          <p:nvPr/>
        </p:nvCxnSpPr>
        <p:spPr>
          <a:xfrm rot="10800000" flipH="1" flipV="1">
            <a:off x="9196397" y="2145607"/>
            <a:ext cx="156102" cy="965237"/>
          </a:xfrm>
          <a:prstGeom prst="bentConnector3">
            <a:avLst>
              <a:gd name="adj1" fmla="val -146443"/>
            </a:avLst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2" name="Сполучна лінія: уступом 101">
            <a:extLst>
              <a:ext uri="{FF2B5EF4-FFF2-40B4-BE49-F238E27FC236}">
                <a16:creationId xmlns:a16="http://schemas.microsoft.com/office/drawing/2014/main" id="{A3F69A54-0919-1661-E27B-C1AD334B0018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8652052" y="3419803"/>
            <a:ext cx="1029430" cy="3714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5" name="Сполучна лінія: уступом 104">
            <a:extLst>
              <a:ext uri="{FF2B5EF4-FFF2-40B4-BE49-F238E27FC236}">
                <a16:creationId xmlns:a16="http://schemas.microsoft.com/office/drawing/2014/main" id="{1B23364C-8FE2-B818-B1D4-CC775FE3AB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92195" y="4490950"/>
            <a:ext cx="1149144" cy="3714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106" name="Сполучна лінія: уступом 105">
            <a:extLst>
              <a:ext uri="{FF2B5EF4-FFF2-40B4-BE49-F238E27FC236}">
                <a16:creationId xmlns:a16="http://schemas.microsoft.com/office/drawing/2014/main" id="{1AB1D55B-3998-525A-2828-00D195BF40E9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8590895" y="5533004"/>
            <a:ext cx="1151744" cy="3714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2539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50F5C-B434-C768-9515-57B4A2461D7A}"/>
              </a:ext>
            </a:extLst>
          </p:cNvPr>
          <p:cNvSpPr txBox="1"/>
          <p:nvPr/>
        </p:nvSpPr>
        <p:spPr>
          <a:xfrm>
            <a:off x="2832318" y="0"/>
            <a:ext cx="46632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 клієнт створює замовлення </a:t>
            </a:r>
          </a:p>
          <a:p>
            <a:pPr algn="ctr"/>
            <a:endParaRPr lang="uk-UA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8EE110-F8D9-10FA-1346-9B3A0E6A2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9" y="1256218"/>
            <a:ext cx="4790976" cy="462481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BCC3B0-0D20-EA3C-6801-68E1BD51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016" y="4884562"/>
            <a:ext cx="4801270" cy="18195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9ACC52-F99B-3233-063C-16F47289E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824" y="514350"/>
            <a:ext cx="7120688" cy="424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4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BA6CD4-9154-1F1B-7916-1FE71EE1B32B}"/>
              </a:ext>
            </a:extLst>
          </p:cNvPr>
          <p:cNvSpPr txBox="1"/>
          <p:nvPr/>
        </p:nvSpPr>
        <p:spPr>
          <a:xfrm>
            <a:off x="1985726" y="0"/>
            <a:ext cx="822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 програма розраховує вартість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C3B3CA-3F2C-6A42-6D14-B1C5B96E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381" y="461665"/>
            <a:ext cx="4378185" cy="6155704"/>
          </a:xfrm>
          <a:prstGeom prst="rect">
            <a:avLst/>
          </a:prstGeom>
        </p:spPr>
      </p:pic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9F33E269-7246-F897-32A5-B8A2AAEF8906}"/>
              </a:ext>
            </a:extLst>
          </p:cNvPr>
          <p:cNvSpPr/>
          <p:nvPr/>
        </p:nvSpPr>
        <p:spPr>
          <a:xfrm>
            <a:off x="914400" y="770021"/>
            <a:ext cx="4892842" cy="46166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Що впливає на вартість?</a:t>
            </a: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D264D042-6744-E00C-5D5E-1A0C44925CEC}"/>
              </a:ext>
            </a:extLst>
          </p:cNvPr>
          <p:cNvSpPr/>
          <p:nvPr/>
        </p:nvSpPr>
        <p:spPr>
          <a:xfrm>
            <a:off x="1495422" y="1384003"/>
            <a:ext cx="2286000" cy="46166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Відстань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639EF578-7AC3-DEFF-D566-E0741AED84E5}"/>
              </a:ext>
            </a:extLst>
          </p:cNvPr>
          <p:cNvSpPr/>
          <p:nvPr/>
        </p:nvSpPr>
        <p:spPr>
          <a:xfrm>
            <a:off x="1495422" y="2076500"/>
            <a:ext cx="2286000" cy="46166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Вага</a:t>
            </a:r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CA603265-FC21-6BCF-EBAD-11EF40F146F7}"/>
              </a:ext>
            </a:extLst>
          </p:cNvPr>
          <p:cNvSpPr/>
          <p:nvPr/>
        </p:nvSpPr>
        <p:spPr>
          <a:xfrm>
            <a:off x="1495425" y="2846024"/>
            <a:ext cx="4892842" cy="134187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Тип вантажу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uk-UA" dirty="0"/>
              <a:t>Звичайний   → ціна × 1.0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uk-UA" dirty="0"/>
              <a:t>Небезпечний → ціна × 1.5 (+50%)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uk-UA" dirty="0"/>
              <a:t>Великогабаритний → ціна × 1.4 (+40%)</a:t>
            </a:r>
          </a:p>
          <a:p>
            <a:pPr algn="ctr"/>
            <a:endParaRPr lang="uk-UA" dirty="0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68B3C7B3-B482-025C-48D0-D6BB7F268699}"/>
              </a:ext>
            </a:extLst>
          </p:cNvPr>
          <p:cNvSpPr/>
          <p:nvPr/>
        </p:nvSpPr>
        <p:spPr>
          <a:xfrm>
            <a:off x="1495424" y="4419229"/>
            <a:ext cx="4067176" cy="68952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/>
              <a:t>Міжнародні перевезення</a:t>
            </a:r>
          </a:p>
          <a:p>
            <a:pPr algn="ctr"/>
            <a:r>
              <a:rPr lang="uk-UA" dirty="0"/>
              <a:t>Якщо за кордон → ціна × 1.5 (+50%)</a:t>
            </a:r>
          </a:p>
        </p:txBody>
      </p:sp>
      <p:cxnSp>
        <p:nvCxnSpPr>
          <p:cNvPr id="19" name="Сполучна лінія: уступом 18">
            <a:extLst>
              <a:ext uri="{FF2B5EF4-FFF2-40B4-BE49-F238E27FC236}">
                <a16:creationId xmlns:a16="http://schemas.microsoft.com/office/drawing/2014/main" id="{5474CCE0-860F-F322-937D-AB7097D6B132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1146124" y="1265538"/>
            <a:ext cx="384268" cy="3143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Сполучна лінія: уступом 20">
            <a:extLst>
              <a:ext uri="{FF2B5EF4-FFF2-40B4-BE49-F238E27FC236}">
                <a16:creationId xmlns:a16="http://schemas.microsoft.com/office/drawing/2014/main" id="{52B68868-57CC-18D3-D0F4-FF3A861B611D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954363" y="1766274"/>
            <a:ext cx="767790" cy="3143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Сполучна лінія: уступом 21">
            <a:extLst>
              <a:ext uri="{FF2B5EF4-FFF2-40B4-BE49-F238E27FC236}">
                <a16:creationId xmlns:a16="http://schemas.microsoft.com/office/drawing/2014/main" id="{FB88D36D-CDE1-5423-5974-6F342DAD0A73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694991" y="2716530"/>
            <a:ext cx="1286536" cy="3143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Сполучна лінія: уступом 22">
            <a:extLst>
              <a:ext uri="{FF2B5EF4-FFF2-40B4-BE49-F238E27FC236}">
                <a16:creationId xmlns:a16="http://schemas.microsoft.com/office/drawing/2014/main" id="{7F202A63-BB77-2D61-16C6-3A7810E1D8F3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609862" y="3878428"/>
            <a:ext cx="1456796" cy="3143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Прямокутник 31">
            <a:extLst>
              <a:ext uri="{FF2B5EF4-FFF2-40B4-BE49-F238E27FC236}">
                <a16:creationId xmlns:a16="http://schemas.microsoft.com/office/drawing/2014/main" id="{922C7231-FF77-7D76-57D3-97975A3C8323}"/>
              </a:ext>
            </a:extLst>
          </p:cNvPr>
          <p:cNvSpPr/>
          <p:nvPr/>
        </p:nvSpPr>
        <p:spPr>
          <a:xfrm>
            <a:off x="342900" y="5419725"/>
            <a:ext cx="6686550" cy="8572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err="1"/>
              <a:t>Загальна</a:t>
            </a:r>
            <a:r>
              <a:rPr lang="ru-RU" sz="2400" dirty="0"/>
              <a:t> </a:t>
            </a:r>
            <a:r>
              <a:rPr lang="ru-RU" sz="2400" dirty="0" err="1"/>
              <a:t>формаула</a:t>
            </a:r>
            <a:r>
              <a:rPr lang="ru-RU" sz="2400" dirty="0"/>
              <a:t> </a:t>
            </a:r>
            <a:r>
              <a:rPr lang="ru-RU" sz="2400" dirty="0" err="1"/>
              <a:t>розрахунків</a:t>
            </a:r>
            <a:br>
              <a:rPr lang="ru-RU" dirty="0"/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БАЗОВА ВАРТІСТЬ =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Відстань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Тариф_за_км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(Вага ×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Тариф_за_кг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118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4AA44E-64E8-66EE-1AC0-92603208F192}"/>
              </a:ext>
            </a:extLst>
          </p:cNvPr>
          <p:cNvSpPr txBox="1"/>
          <p:nvPr/>
        </p:nvSpPr>
        <p:spPr>
          <a:xfrm>
            <a:off x="3189537" y="0"/>
            <a:ext cx="5470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uk-UA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язок</a:t>
            </a:r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користувача з </a:t>
            </a:r>
            <a:r>
              <a:rPr lang="uk-UA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техпідтримкою</a:t>
            </a:r>
            <a:endParaRPr lang="uk-UA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B83869-B6C5-3F46-1A98-4CBFFAD71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37" y="4795742"/>
            <a:ext cx="3772426" cy="136226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A35201-63F2-3B1C-9E70-B803DFD8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02" y="4795742"/>
            <a:ext cx="6601746" cy="88594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675E1F-0630-08C2-C0A0-951655719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58" y="1114252"/>
            <a:ext cx="10450383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7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5F962-49F2-B611-A657-F21518FB084F}"/>
              </a:ext>
            </a:extLst>
          </p:cNvPr>
          <p:cNvSpPr txBox="1"/>
          <p:nvPr/>
        </p:nvSpPr>
        <p:spPr>
          <a:xfrm>
            <a:off x="3368586" y="0"/>
            <a:ext cx="5454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Зв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uk-UA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язок</a:t>
            </a:r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техпідтримки</a:t>
            </a:r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користувачем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B72509-86D9-D9F1-9228-B7CEED47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35426"/>
            <a:ext cx="12192000" cy="13294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A796396-CDB1-ACA8-E70E-80A85A91B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38634"/>
            <a:ext cx="4552951" cy="395548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151D0BF-07FF-4A8D-4F7D-A0AA963FB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48" y="2795493"/>
            <a:ext cx="3115677" cy="164535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27C6F1-6604-3194-C130-58B793C5B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1" y="5967884"/>
            <a:ext cx="11706224" cy="80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96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E242C-5EF8-3538-E730-2D858F7321AA}"/>
              </a:ext>
            </a:extLst>
          </p:cNvPr>
          <p:cNvSpPr txBox="1"/>
          <p:nvPr/>
        </p:nvSpPr>
        <p:spPr>
          <a:xfrm>
            <a:off x="2667818" y="0"/>
            <a:ext cx="7203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 водій приймає замовлення і змінює його статус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C99DC1-F4CD-7B95-A9ED-CAA7F29B0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202"/>
            <a:ext cx="12192000" cy="93784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78EC23-2677-5603-7072-F8A7EC4A3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6991"/>
            <a:ext cx="12192000" cy="486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13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CBE9-AA4D-5B2E-E2CD-67E7017C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BD8E6-8A3B-B9BD-2AE7-A22FA1A94560}"/>
              </a:ext>
            </a:extLst>
          </p:cNvPr>
          <p:cNvSpPr txBox="1"/>
          <p:nvPr/>
        </p:nvSpPr>
        <p:spPr>
          <a:xfrm>
            <a:off x="2861760" y="-16042"/>
            <a:ext cx="756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Як водій повідомляє про неочікувані інциденти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F881FC-B644-AB7D-E8A7-60A7545F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99" y="621595"/>
            <a:ext cx="11049802" cy="111322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01248D-9FD4-60A9-5230-228800DB0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36" y="2058231"/>
            <a:ext cx="6478159" cy="417817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FDD5D2-4745-8195-BB80-F79747FB4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23" y="2440049"/>
            <a:ext cx="3639058" cy="136226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F01061E-1B31-94C7-7E6A-601DB636B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575" y="4507542"/>
            <a:ext cx="3781953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83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A7C5D-1A19-4E5E-C926-CD5743E7F404}"/>
              </a:ext>
            </a:extLst>
          </p:cNvPr>
          <p:cNvSpPr txBox="1"/>
          <p:nvPr/>
        </p:nvSpPr>
        <p:spPr>
          <a:xfrm>
            <a:off x="4905375" y="0"/>
            <a:ext cx="238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Адміністратор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77E160-8D38-171D-C11C-EE0865F2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665"/>
            <a:ext cx="12192000" cy="35073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FA00A8-D0EE-0B78-9296-1592E5473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30706"/>
            <a:ext cx="12192000" cy="165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7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0C461-05D2-DBAD-96E8-960C065FC666}"/>
              </a:ext>
            </a:extLst>
          </p:cNvPr>
          <p:cNvSpPr txBox="1"/>
          <p:nvPr/>
        </p:nvSpPr>
        <p:spPr>
          <a:xfrm>
            <a:off x="3581400" y="0"/>
            <a:ext cx="4583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 які проходив додаток</a:t>
            </a:r>
          </a:p>
        </p:txBody>
      </p:sp>
      <p:graphicFrame>
        <p:nvGraphicFramePr>
          <p:cNvPr id="7" name="Діаграма 6">
            <a:extLst>
              <a:ext uri="{FF2B5EF4-FFF2-40B4-BE49-F238E27FC236}">
                <a16:creationId xmlns:a16="http://schemas.microsoft.com/office/drawing/2014/main" id="{D8337D68-97C7-D868-8CE8-F3F580BC6A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6165750"/>
              </p:ext>
            </p:extLst>
          </p:nvPr>
        </p:nvGraphicFramePr>
        <p:xfrm>
          <a:off x="-873125" y="1514474"/>
          <a:ext cx="6486525" cy="3466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Діаграма 9">
            <a:extLst>
              <a:ext uri="{FF2B5EF4-FFF2-40B4-BE49-F238E27FC236}">
                <a16:creationId xmlns:a16="http://schemas.microsoft.com/office/drawing/2014/main" id="{B3D4DCE4-C30A-AE77-A2BA-B8A091374F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464478"/>
              </p:ext>
            </p:extLst>
          </p:nvPr>
        </p:nvGraphicFramePr>
        <p:xfrm>
          <a:off x="5613400" y="1186392"/>
          <a:ext cx="6578600" cy="4623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70326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E35C7-A148-DBDA-B0BB-70A35474E19C}"/>
              </a:ext>
            </a:extLst>
          </p:cNvPr>
          <p:cNvSpPr txBox="1"/>
          <p:nvPr/>
        </p:nvSpPr>
        <p:spPr>
          <a:xfrm>
            <a:off x="3226464" y="0"/>
            <a:ext cx="5739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Чим наша програма краща за аналоги?</a:t>
            </a:r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C0D73ED5-C282-4ECC-F829-E27071E11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264629"/>
              </p:ext>
            </p:extLst>
          </p:nvPr>
        </p:nvGraphicFramePr>
        <p:xfrm>
          <a:off x="1400176" y="948266"/>
          <a:ext cx="9572624" cy="43666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3175207248"/>
                    </a:ext>
                  </a:extLst>
                </a:gridCol>
                <a:gridCol w="4486275">
                  <a:extLst>
                    <a:ext uri="{9D8B030D-6E8A-4147-A177-3AD203B41FA5}">
                      <a16:colId xmlns:a16="http://schemas.microsoft.com/office/drawing/2014/main" val="274058725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3899630203"/>
                    </a:ext>
                  </a:extLst>
                </a:gridCol>
              </a:tblGrid>
              <a:tr h="47282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Критерій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Наша програма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Конкуренти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255568939"/>
                  </a:ext>
                </a:extLst>
              </a:tr>
              <a:tr h="7370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uk-UA" b="1" dirty="0">
                          <a:effectLst/>
                          <a:latin typeface="quote-cjk-patch"/>
                        </a:rPr>
                        <a:t>Вартість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1" dirty="0">
                          <a:effectLst/>
                          <a:latin typeface="quote-cjk-patch"/>
                        </a:rPr>
                        <a:t>Безкоштовно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10-25% комісії або платна підписка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29883425"/>
                  </a:ext>
                </a:extLst>
              </a:tr>
              <a:tr h="4728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uk-UA" b="1" dirty="0">
                          <a:effectLst/>
                          <a:latin typeface="quote-cjk-patch"/>
                        </a:rPr>
                        <a:t>Робота в Україні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1" dirty="0">
                          <a:effectLst/>
                          <a:latin typeface="quote-cjk-patch"/>
                        </a:rPr>
                        <a:t>Повністю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Частково або відсутня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84393865"/>
                  </a:ext>
                </a:extLst>
              </a:tr>
              <a:tr h="7370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uk-UA" b="1" dirty="0">
                          <a:effectLst/>
                          <a:latin typeface="quote-cjk-patch"/>
                        </a:rPr>
                        <a:t>Кількість ролей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1" dirty="0">
                          <a:effectLst/>
                          <a:latin typeface="quote-cjk-patch"/>
                        </a:rPr>
                        <a:t>4 ролі</a:t>
                      </a:r>
                      <a:r>
                        <a:rPr lang="uk-UA" b="0" dirty="0">
                          <a:effectLst/>
                          <a:latin typeface="quote-cjk-patch"/>
                        </a:rPr>
                        <a:t> (клієнт, водій, менеджер, </a:t>
                      </a:r>
                      <a:r>
                        <a:rPr lang="uk-UA" b="0" dirty="0" err="1">
                          <a:effectLst/>
                          <a:latin typeface="quote-cjk-patch"/>
                        </a:rPr>
                        <a:t>адмін</a:t>
                      </a:r>
                      <a:r>
                        <a:rPr lang="uk-UA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Максимум 2 ролі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91772378"/>
                  </a:ext>
                </a:extLst>
              </a:tr>
              <a:tr h="7370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uk-UA" b="1" dirty="0">
                          <a:effectLst/>
                          <a:latin typeface="quote-cjk-patch"/>
                        </a:rPr>
                        <a:t>Безкоштовні карти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1" dirty="0" err="1">
                          <a:effectLst/>
                          <a:latin typeface="quote-cjk-patch"/>
                        </a:rPr>
                        <a:t>OpenStreetMap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Переважно платний Google Maps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19936369"/>
                  </a:ext>
                </a:extLst>
              </a:tr>
              <a:tr h="73705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uk-UA" b="1" dirty="0">
                          <a:effectLst/>
                          <a:latin typeface="quote-cjk-patch"/>
                        </a:rPr>
                        <a:t>Зберігання даних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1" dirty="0">
                          <a:effectLst/>
                          <a:latin typeface="quote-cjk-patch"/>
                        </a:rPr>
                        <a:t>Локальна БД</a:t>
                      </a:r>
                      <a:r>
                        <a:rPr lang="uk-UA" b="0" dirty="0">
                          <a:effectLst/>
                          <a:latin typeface="quote-cjk-patch"/>
                        </a:rPr>
                        <a:t> (ваш комп'ютер)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>
                          <a:effectLst/>
                          <a:latin typeface="quote-cjk-patch"/>
                        </a:rPr>
                        <a:t>Хмара (за кордоном)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11004209"/>
                  </a:ext>
                </a:extLst>
              </a:tr>
              <a:tr h="4728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uk-UA" b="1" dirty="0">
                          <a:effectLst/>
                          <a:latin typeface="quote-cjk-patch"/>
                        </a:rPr>
                        <a:t>Українська мова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1" dirty="0">
                          <a:effectLst/>
                          <a:latin typeface="quote-cjk-patch"/>
                        </a:rPr>
                        <a:t>Так</a:t>
                      </a:r>
                      <a:endParaRPr lang="uk-UA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uk-UA" b="0" dirty="0">
                          <a:effectLst/>
                          <a:latin typeface="quote-cjk-patch"/>
                        </a:rPr>
                        <a:t>Частково або відсутня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09351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91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2">
            <a:extLst>
              <a:ext uri="{FF2B5EF4-FFF2-40B4-BE49-F238E27FC236}">
                <a16:creationId xmlns:a16="http://schemas.microsoft.com/office/drawing/2014/main" id="{EDA90D89-770A-4C09-978C-9E38FE15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3B344D7-1AE2-4947-876E-2A5267450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D6633E5C-867B-4E17-9151-FF0FDB122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2D5EDC2E-587B-4E85-8185-D99B438AB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36" name="Freeform 7">
              <a:extLst>
                <a:ext uri="{FF2B5EF4-FFF2-40B4-BE49-F238E27FC236}">
                  <a16:creationId xmlns:a16="http://schemas.microsoft.com/office/drawing/2014/main" id="{996B1479-D8B0-4D98-B382-877F9A3AE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3B7BA112-C364-4D4C-97F9-A1DC76F1E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8B9D9B13-8F5D-41E6-93D6-CDFEB34AB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39" name="Freeform 10">
              <a:extLst>
                <a:ext uri="{FF2B5EF4-FFF2-40B4-BE49-F238E27FC236}">
                  <a16:creationId xmlns:a16="http://schemas.microsoft.com/office/drawing/2014/main" id="{B5720BDB-EA73-4DE9-8A10-11DA3A1AC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F1D2313E-4168-41D0-A5B5-2187D1B33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1" name="Freeform 12">
              <a:extLst>
                <a:ext uri="{FF2B5EF4-FFF2-40B4-BE49-F238E27FC236}">
                  <a16:creationId xmlns:a16="http://schemas.microsoft.com/office/drawing/2014/main" id="{0F1B19F3-A09E-4891-8916-D5F8B0B2A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4D61F564-BB90-4A5C-829A-4F984FD6C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3" name="Freeform 14">
              <a:extLst>
                <a:ext uri="{FF2B5EF4-FFF2-40B4-BE49-F238E27FC236}">
                  <a16:creationId xmlns:a16="http://schemas.microsoft.com/office/drawing/2014/main" id="{3803B77E-8C29-4857-B5C1-B89B01F46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B96F39B0-FB50-4957-8F85-2E2CCF6D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5" name="Freeform 16">
              <a:extLst>
                <a:ext uri="{FF2B5EF4-FFF2-40B4-BE49-F238E27FC236}">
                  <a16:creationId xmlns:a16="http://schemas.microsoft.com/office/drawing/2014/main" id="{A54B5837-452A-4FC3-A8C8-E275AA929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6" name="Freeform 17">
              <a:extLst>
                <a:ext uri="{FF2B5EF4-FFF2-40B4-BE49-F238E27FC236}">
                  <a16:creationId xmlns:a16="http://schemas.microsoft.com/office/drawing/2014/main" id="{FDE2A683-C13C-4A7F-935C-4C5279BF5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7" name="Freeform 18">
              <a:extLst>
                <a:ext uri="{FF2B5EF4-FFF2-40B4-BE49-F238E27FC236}">
                  <a16:creationId xmlns:a16="http://schemas.microsoft.com/office/drawing/2014/main" id="{30C5773F-6573-4E1F-B3DC-BB2B01D88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E280F9F5-EF46-41DF-B672-013B025B9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9" name="Freeform 20">
              <a:extLst>
                <a:ext uri="{FF2B5EF4-FFF2-40B4-BE49-F238E27FC236}">
                  <a16:creationId xmlns:a16="http://schemas.microsoft.com/office/drawing/2014/main" id="{5876ADD8-345E-4A8D-81CB-0D5C3F76F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8D2F7216-B310-4AB4-9948-2CF747F77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1" name="Freeform 22">
              <a:extLst>
                <a:ext uri="{FF2B5EF4-FFF2-40B4-BE49-F238E27FC236}">
                  <a16:creationId xmlns:a16="http://schemas.microsoft.com/office/drawing/2014/main" id="{D113E940-FD31-4B25-B33F-5B213CC75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2" name="Freeform 23">
              <a:extLst>
                <a:ext uri="{FF2B5EF4-FFF2-40B4-BE49-F238E27FC236}">
                  <a16:creationId xmlns:a16="http://schemas.microsoft.com/office/drawing/2014/main" id="{D6211283-9342-40E7-88F7-14A90284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3" name="Freeform 24">
              <a:extLst>
                <a:ext uri="{FF2B5EF4-FFF2-40B4-BE49-F238E27FC236}">
                  <a16:creationId xmlns:a16="http://schemas.microsoft.com/office/drawing/2014/main" id="{B0118661-823B-4754-B0E3-52ACCB8DF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263B289D-A43D-47C8-AA8E-40C86C608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5" name="Freeform 26">
              <a:extLst>
                <a:ext uri="{FF2B5EF4-FFF2-40B4-BE49-F238E27FC236}">
                  <a16:creationId xmlns:a16="http://schemas.microsoft.com/office/drawing/2014/main" id="{D5A2D8F7-A5A4-4B2E-89AE-F99CC5B05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6" name="Freeform 27">
              <a:extLst>
                <a:ext uri="{FF2B5EF4-FFF2-40B4-BE49-F238E27FC236}">
                  <a16:creationId xmlns:a16="http://schemas.microsoft.com/office/drawing/2014/main" id="{6847785C-2F02-4845-9257-9DE5E6EDA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4B83A129-3D7E-44D8-8C6C-9DE73E12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8" name="Freeform 29">
              <a:extLst>
                <a:ext uri="{FF2B5EF4-FFF2-40B4-BE49-F238E27FC236}">
                  <a16:creationId xmlns:a16="http://schemas.microsoft.com/office/drawing/2014/main" id="{7E1A9847-AC3D-4B5D-A29A-A93B0C6AB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2450F521-5F68-4148-9905-6232B08F8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0" name="Freeform 31">
              <a:extLst>
                <a:ext uri="{FF2B5EF4-FFF2-40B4-BE49-F238E27FC236}">
                  <a16:creationId xmlns:a16="http://schemas.microsoft.com/office/drawing/2014/main" id="{8C6F916A-08CA-4F4C-BDBA-0F63A621F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1" name="Freeform 32">
              <a:extLst>
                <a:ext uri="{FF2B5EF4-FFF2-40B4-BE49-F238E27FC236}">
                  <a16:creationId xmlns:a16="http://schemas.microsoft.com/office/drawing/2014/main" id="{D68FB199-D330-4EF4-94F5-1C07371E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2" name="Rectangle 33">
              <a:extLst>
                <a:ext uri="{FF2B5EF4-FFF2-40B4-BE49-F238E27FC236}">
                  <a16:creationId xmlns:a16="http://schemas.microsoft.com/office/drawing/2014/main" id="{3B67568D-CC47-4BBA-A084-154AEAA82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3" name="Freeform 34">
              <a:extLst>
                <a:ext uri="{FF2B5EF4-FFF2-40B4-BE49-F238E27FC236}">
                  <a16:creationId xmlns:a16="http://schemas.microsoft.com/office/drawing/2014/main" id="{C9C25D1A-5E1E-4B22-B8D3-B0F526392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4" name="Freeform 35">
              <a:extLst>
                <a:ext uri="{FF2B5EF4-FFF2-40B4-BE49-F238E27FC236}">
                  <a16:creationId xmlns:a16="http://schemas.microsoft.com/office/drawing/2014/main" id="{4D8DB054-D1D3-4C30-B62E-7F2C6A812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5" name="Freeform 36">
              <a:extLst>
                <a:ext uri="{FF2B5EF4-FFF2-40B4-BE49-F238E27FC236}">
                  <a16:creationId xmlns:a16="http://schemas.microsoft.com/office/drawing/2014/main" id="{9EB76371-2F16-4BA0-994C-2575FD933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6" name="Freeform 37">
              <a:extLst>
                <a:ext uri="{FF2B5EF4-FFF2-40B4-BE49-F238E27FC236}">
                  <a16:creationId xmlns:a16="http://schemas.microsoft.com/office/drawing/2014/main" id="{2B61AF6D-2A6D-4C90-BCCA-CD97F7246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7" name="Freeform 38">
              <a:extLst>
                <a:ext uri="{FF2B5EF4-FFF2-40B4-BE49-F238E27FC236}">
                  <a16:creationId xmlns:a16="http://schemas.microsoft.com/office/drawing/2014/main" id="{B35F6DFD-5D34-4BE6-8B2A-0D6CDCE28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8" name="Freeform 39">
              <a:extLst>
                <a:ext uri="{FF2B5EF4-FFF2-40B4-BE49-F238E27FC236}">
                  <a16:creationId xmlns:a16="http://schemas.microsoft.com/office/drawing/2014/main" id="{BCB0EEDB-7826-499E-BB87-6D0DD545F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69" name="Freeform 40">
              <a:extLst>
                <a:ext uri="{FF2B5EF4-FFF2-40B4-BE49-F238E27FC236}">
                  <a16:creationId xmlns:a16="http://schemas.microsoft.com/office/drawing/2014/main" id="{F16B5CE0-3198-436D-888B-A01A98384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0" name="Freeform 41">
              <a:extLst>
                <a:ext uri="{FF2B5EF4-FFF2-40B4-BE49-F238E27FC236}">
                  <a16:creationId xmlns:a16="http://schemas.microsoft.com/office/drawing/2014/main" id="{B550414A-8DF0-4572-A382-B88DBE0B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1" name="Freeform 42">
              <a:extLst>
                <a:ext uri="{FF2B5EF4-FFF2-40B4-BE49-F238E27FC236}">
                  <a16:creationId xmlns:a16="http://schemas.microsoft.com/office/drawing/2014/main" id="{AFB98517-BD8F-45DD-A2BA-52FD61A48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2" name="Freeform 43">
              <a:extLst>
                <a:ext uri="{FF2B5EF4-FFF2-40B4-BE49-F238E27FC236}">
                  <a16:creationId xmlns:a16="http://schemas.microsoft.com/office/drawing/2014/main" id="{78C67202-AF18-4690-8000-4C12C4042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3" name="Freeform 44">
              <a:extLst>
                <a:ext uri="{FF2B5EF4-FFF2-40B4-BE49-F238E27FC236}">
                  <a16:creationId xmlns:a16="http://schemas.microsoft.com/office/drawing/2014/main" id="{AD51A156-6972-43DA-BF32-CA187641B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4" name="Rectangle 45">
              <a:extLst>
                <a:ext uri="{FF2B5EF4-FFF2-40B4-BE49-F238E27FC236}">
                  <a16:creationId xmlns:a16="http://schemas.microsoft.com/office/drawing/2014/main" id="{B5CE61CC-EBDF-4355-A6C3-D44E62D78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5" name="Freeform 46">
              <a:extLst>
                <a:ext uri="{FF2B5EF4-FFF2-40B4-BE49-F238E27FC236}">
                  <a16:creationId xmlns:a16="http://schemas.microsoft.com/office/drawing/2014/main" id="{ACB1B7F1-FBEF-48FA-97A7-9FAE7708E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6" name="Freeform 47">
              <a:extLst>
                <a:ext uri="{FF2B5EF4-FFF2-40B4-BE49-F238E27FC236}">
                  <a16:creationId xmlns:a16="http://schemas.microsoft.com/office/drawing/2014/main" id="{4851370A-7D0E-4B9F-BA8B-B1966748F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7" name="Freeform 48">
              <a:extLst>
                <a:ext uri="{FF2B5EF4-FFF2-40B4-BE49-F238E27FC236}">
                  <a16:creationId xmlns:a16="http://schemas.microsoft.com/office/drawing/2014/main" id="{B882F537-DDEB-49AE-BF36-6380A45F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8" name="Freeform 49">
              <a:extLst>
                <a:ext uri="{FF2B5EF4-FFF2-40B4-BE49-F238E27FC236}">
                  <a16:creationId xmlns:a16="http://schemas.microsoft.com/office/drawing/2014/main" id="{A53D3CF4-BFB0-4D0B-8471-26ACAFE0A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79" name="Freeform 50">
              <a:extLst>
                <a:ext uri="{FF2B5EF4-FFF2-40B4-BE49-F238E27FC236}">
                  <a16:creationId xmlns:a16="http://schemas.microsoft.com/office/drawing/2014/main" id="{13BC2FA8-8256-44BD-9A62-0EE83D647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0" name="Freeform 51">
              <a:extLst>
                <a:ext uri="{FF2B5EF4-FFF2-40B4-BE49-F238E27FC236}">
                  <a16:creationId xmlns:a16="http://schemas.microsoft.com/office/drawing/2014/main" id="{90A9C5D2-72E3-4B31-A271-57A883ADC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1" name="Freeform 52">
              <a:extLst>
                <a:ext uri="{FF2B5EF4-FFF2-40B4-BE49-F238E27FC236}">
                  <a16:creationId xmlns:a16="http://schemas.microsoft.com/office/drawing/2014/main" id="{2A5948D4-F239-4BEA-8E38-76F358E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2" name="Freeform 53">
              <a:extLst>
                <a:ext uri="{FF2B5EF4-FFF2-40B4-BE49-F238E27FC236}">
                  <a16:creationId xmlns:a16="http://schemas.microsoft.com/office/drawing/2014/main" id="{7384B304-194D-400B-B568-5E6DEA885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3" name="Freeform 54">
              <a:extLst>
                <a:ext uri="{FF2B5EF4-FFF2-40B4-BE49-F238E27FC236}">
                  <a16:creationId xmlns:a16="http://schemas.microsoft.com/office/drawing/2014/main" id="{B680594F-341A-4C19-BF7F-F6D76386A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4" name="Freeform 55">
              <a:extLst>
                <a:ext uri="{FF2B5EF4-FFF2-40B4-BE49-F238E27FC236}">
                  <a16:creationId xmlns:a16="http://schemas.microsoft.com/office/drawing/2014/main" id="{4EA6807C-3B8A-43FE-BA1B-8D6D3851F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5" name="Freeform 56">
              <a:extLst>
                <a:ext uri="{FF2B5EF4-FFF2-40B4-BE49-F238E27FC236}">
                  <a16:creationId xmlns:a16="http://schemas.microsoft.com/office/drawing/2014/main" id="{BA316439-CB72-49C9-BE80-934799D83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6" name="Freeform 57">
              <a:extLst>
                <a:ext uri="{FF2B5EF4-FFF2-40B4-BE49-F238E27FC236}">
                  <a16:creationId xmlns:a16="http://schemas.microsoft.com/office/drawing/2014/main" id="{6BC7FE05-950C-4A73-B6A9-282B142C7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87" name="Freeform 58">
              <a:extLst>
                <a:ext uri="{FF2B5EF4-FFF2-40B4-BE49-F238E27FC236}">
                  <a16:creationId xmlns:a16="http://schemas.microsoft.com/office/drawing/2014/main" id="{81C014C7-E085-4923-B533-732801FC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CB480-964A-A560-22DF-A733DC8A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Дякую за увагу</a:t>
            </a:r>
          </a:p>
        </p:txBody>
      </p:sp>
      <p:sp>
        <p:nvSpPr>
          <p:cNvPr id="1089" name="Round Diagonal Corner Rectangle 6">
            <a:extLst>
              <a:ext uri="{FF2B5EF4-FFF2-40B4-BE49-F238E27FC236}">
                <a16:creationId xmlns:a16="http://schemas.microsoft.com/office/drawing/2014/main" id="{0E24CF0B-9BD9-4126-80C9-FF28141AC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Дякую за увагу. Красиві та щирі слова подяки за увагу в прозі та картинках">
            <a:extLst>
              <a:ext uri="{FF2B5EF4-FFF2-40B4-BE49-F238E27FC236}">
                <a16:creationId xmlns:a16="http://schemas.microsoft.com/office/drawing/2014/main" id="{678FABD2-2D20-42C9-2CDE-687E27DB1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9715" y="1136606"/>
            <a:ext cx="6110927" cy="457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459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хема">
  <a:themeElements>
    <a:clrScheme name="Схема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Схема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хема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Схема</Template>
  <TotalTime>635</TotalTime>
  <Words>481</Words>
  <Application>Microsoft Office PowerPoint</Application>
  <PresentationFormat>Широкий екран</PresentationFormat>
  <Paragraphs>112</Paragraphs>
  <Slides>16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1" baseType="lpstr">
      <vt:lpstr>Arial</vt:lpstr>
      <vt:lpstr>quote-cjk-patch</vt:lpstr>
      <vt:lpstr>Times New Roman</vt:lpstr>
      <vt:lpstr>Tw Cen MT</vt:lpstr>
      <vt:lpstr>Схема</vt:lpstr>
      <vt:lpstr>ВАСИЛЬКІВСЬКИЙ ФАХОВИЙ КОЛЕДЖ ДНП «ДУ «КИЇВСЬКИЙ АВІАЦІЙНИЙ ІНСТИТУТ»</vt:lpstr>
      <vt:lpstr> Актуальність теми 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</dc:creator>
  <cp:lastModifiedBy>Lukas</cp:lastModifiedBy>
  <cp:revision>14</cp:revision>
  <dcterms:created xsi:type="dcterms:W3CDTF">2026-06-10T11:52:38Z</dcterms:created>
  <dcterms:modified xsi:type="dcterms:W3CDTF">2026-06-20T12:53:46Z</dcterms:modified>
</cp:coreProperties>
</file>