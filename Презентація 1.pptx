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ru-RU" sz="1000" b="0" i="0" u="none" strike="noStrike">
                <a:solidFill>
                  <a:srgbClr val="000000"/>
                </a:solidFill>
                <a:latin typeface="Arial"/>
              </a:rPr>
              <a:t>Час відповіді (мс) по 3000 клієнтів — поріг: 2000 мс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 клієнтів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Dashboard</c:v>
                </c:pt>
                <c:pt idx="1">
                  <c:v>Список клієнтів</c:v>
                </c:pt>
                <c:pt idx="2">
                  <c:v>Білінг</c:v>
                </c:pt>
                <c:pt idx="3">
                  <c:v>Картка клієнта</c:v>
                </c:pt>
                <c:pt idx="4">
                  <c:v>Мережева карта</c:v>
                </c:pt>
                <c:pt idx="5">
                  <c:v>Глобальний пошук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28</c:v>
                </c:pt>
                <c:pt idx="2">
                  <c:v>35</c:v>
                </c:pt>
                <c:pt idx="3">
                  <c:v>24</c:v>
                </c:pt>
                <c:pt idx="4">
                  <c:v>38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1-4B0A-825E-7560E60A2F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1000 клієнтів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Dashboard</c:v>
                </c:pt>
                <c:pt idx="1">
                  <c:v>Список клієнтів</c:v>
                </c:pt>
                <c:pt idx="2">
                  <c:v>Білінг</c:v>
                </c:pt>
                <c:pt idx="3">
                  <c:v>Картка клієнта</c:v>
                </c:pt>
                <c:pt idx="4">
                  <c:v>Мережева карта</c:v>
                </c:pt>
                <c:pt idx="5">
                  <c:v>Глобальний пошук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35</c:v>
                </c:pt>
                <c:pt idx="2">
                  <c:v>48</c:v>
                </c:pt>
                <c:pt idx="3">
                  <c:v>26</c:v>
                </c:pt>
                <c:pt idx="4">
                  <c:v>42</c:v>
                </c:pt>
                <c:pt idx="5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91-4B0A-825E-7560E60A2F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3000 клієнтів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Dashboard</c:v>
                </c:pt>
                <c:pt idx="1">
                  <c:v>Список клієнтів</c:v>
                </c:pt>
                <c:pt idx="2">
                  <c:v>Білінг</c:v>
                </c:pt>
                <c:pt idx="3">
                  <c:v>Картка клієнта</c:v>
                </c:pt>
                <c:pt idx="4">
                  <c:v>Мережева карта</c:v>
                </c:pt>
                <c:pt idx="5">
                  <c:v>Глобальний пошук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185</c:v>
                </c:pt>
                <c:pt idx="1">
                  <c:v>62</c:v>
                </c:pt>
                <c:pt idx="2">
                  <c:v>75</c:v>
                </c:pt>
                <c:pt idx="3">
                  <c:v>29</c:v>
                </c:pt>
                <c:pt idx="4">
                  <c:v>58</c:v>
                </c:pt>
                <c:pt idx="5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91-4B0A-825E-7560E60A2F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uk-U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21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Титульний слайд. Представтесь: прізвище, ім'я, тема роботи. Скажіть, що система вже розгорнута онлайн на PythonAnywhere.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Поясніть проблему регіональних провайдерів: дані розкидані, ручне нарахування, немає карти обладнання. Наведіть статистику НКРЗІ — 1200+ провайдерів. Більшість малих і середніх — не мають бюджету на дорогі системи.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Розкажіть, що кожна з систем закриває лише частину потреб. WHMCS та UTM5 мають білінг, але немає карти. Zabbix — тільки моніторинг, без клієнтів. UIC Manager об'єднує все і є безкоштовним та україномовним.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Обґрунтуйте кожну технологію: Python — знайомий і лаконічний, Django — ORM без SQL, SQLite — простота розгортання, Bootstrap — готовий UI, Leaflet — безкоштовні карти, PythonAnywhere — хмарний хостинг для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архітектури: Model — описує структуру даних через Python-класи, ORM генерує SQL автоматично. Template — HTML-шаблони з логікою відображення. View — функції-обробники, приймають Request, повертають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Поясніть основні зв'язки: Client має OneToOne до Account та ClientCredentials (cascade delete). EmergencyTask — ManyToMany з Employee. 29 міграцій — вся еволюція схеми БД зафіксована.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Сигнал post_save — ключова автоматизація: після збереження нового Client система сама генерує RADIUS-логін (7 цифр) та пароль (буква+4 цифри) і створює рахунок. monthly_charge — запускається cron-ом 1-го числа кожного місяця.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Django Admin — безкоштовна адмінпанель, яку Django генерує автоматично зі структури моделей. На екрані видно список тікетів (Tickets) з фільтрами за статусом, пріоритетом та датою. 54 тікети у системі.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— перший екран після входу. Оператор за секунди бачить стан всієї системи: скільки клієнтів, чи є аварії, нові тікети. Критичні аварії підсвічені червоним зверху.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Реєстр клієнтів — основна сторінка оператора. Пошук працює по 5 полях одночасно через Django Q(). Пагінація по 50 записів. Статус показує чи клієнт онлайн.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Картка клієнта — центральна сторінка для оператора. Тут видно всю інформацію по абоненту, його RADIUS-дані, баланс з кольоровим підсвіченням, журнал платежів та тікети.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Білінговий модуль — всі рахунки клієнтів на одному екрані. Кольори: зелений — баланс у нормі, червоний — від'ємний або заблокований. Бокова статистика показує загальний стан фінансів провайдера.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Мережева карта — унікальна функція, якої немає ні в WHMCS, ні в UTM5. Всі вузли обладнання на реальній карті Василькова. При аварії техфахівець одразу бачить адресу та координати.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Тарифні плани — від 99 до 399 грн/міс. Кожен тариф прив'язується до клієнта через ForeignKey. monthly_charge автоматично списує ціну тарифу раз на місяць.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персоналу — список 8 співробітників з контактними даними. Картковий дизайн. Кожен співробітник може бути призначений на одну або кілька аварійних задач через ManyToMany.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Журнал завдань — три вкладки відповідно до статусу: нові заявки, ті що в роботі, і архів. Аварія підсвічена червоним. У прикладі видно аварію «Обрив по лінії, впало дерево» на Грушевського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аварій — один з ключових. На карті аварія одразу з'являється помаранчевим маркером. Кілька співробітників можуть бути призначені на одну аварію. Скорочується MTTR — середній час відновлення.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Склад — двовкладкова структура. Вкладка «Склад» для матеріалів монтажу (кабель, муфти, патч-корди). Вкладка «Магазин» — роутери та обладнання для клієнтів із фото та ціновими картками Bootstrap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повідомлень — для масового інформування клієнтів про планові роботи чи аварії. Кожна розсилка фіксується у MessageLog із датою, автором та кількістю отримувачів.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тестувалась на шести рівнях. 76 перевірок загалом, 7 дефектів виявлено та усунено. Усі сценарії виконані успішно. Навантажувальне тестування — 50 паралельних запитів, 0 помилок.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Продуктивність значно перевищує вимоги: максимальний час відповіді 185 мс при 3000 клієнтів, тоді як поріг — 2000 мс. Навантажувальне тестування — 50 одночасних запитів, жодної помилки.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Підсумуйте всю роботу. Всі 6 висновків — конкретні результати, підкріплені числами. Наголосіть, що система вже онлайн та готова до практичного використання.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Завершальний слайд. Запросіть комісію перейти за посиланням або продемонструйте систему в браузері. Розкажіть про перспективи: Mikrotik API, мобільний застосунок, Telegram-бот.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8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411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 Manager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737360" y="1234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Ukrainian ISP Controller Manager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37360" y="1755648"/>
            <a:ext cx="6858000" cy="274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745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та розробка інформаційної системи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інфраструктурою інтернет-провайдера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2834640"/>
            <a:ext cx="3108960" cy="1783080"/>
          </a:xfrm>
          <a:prstGeom prst="roundRect">
            <a:avLst>
              <a:gd name="adj" fmla="val 4103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92608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</a:t>
            </a:r>
            <a:endParaRPr lang="en-US" sz="1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Тромса Дмитро Сергійович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641  •  Спеціальність 121
</a:t>
            </a:r>
            <a:endParaRPr lang="en-US" sz="1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Галич Наталія Степанівна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8346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834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28346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834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28346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834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4015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401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46520" y="34015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401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4773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ВФК ДНП «ДУ «КАІ» · Васильків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проблематика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732520" y="164592"/>
            <a:ext cx="320040" cy="3200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EF2FF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провайдерів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Україні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515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1719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ведуть облік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Excel/Word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0515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грн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1719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 Manager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4251960" cy="2423160"/>
          </a:xfrm>
          <a:prstGeom prst="roundRect">
            <a:avLst>
              <a:gd name="adj" fmla="val 3774"/>
            </a:avLst>
          </a:prstGeom>
          <a:solidFill>
            <a:srgbClr val="FEE2E2"/>
          </a:solidFill>
          <a:ln w="12700">
            <a:solidFill>
              <a:srgbClr val="DC3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151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розкидані по Excel-файлах та журналах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Дублювання інформації про клієнтів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єдиного обліку обладнання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Ручне нарахування — помилки в платежах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інструменту для аварійних задач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542032"/>
            <a:ext cx="4251960" cy="2423160"/>
          </a:xfrm>
          <a:prstGeom prst="roundRect">
            <a:avLst>
              <a:gd name="adj" fmla="val 3774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6151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UIC Manager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база всіх даних провайдера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нарахування (monthly_charge)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Інтерактивна карта мережевого обладнання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Білінг з обіцяними платежами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аварій та задач із геолокацією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існуючих рішень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WHMCS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UIC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Облік обладнання + карта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Реєстр абонентів (укр.)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Білінг + обіцяні платежі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Тікети та заявки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Аварійні задачі + геолок.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Складський облік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Управління персоналом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Україномовний інтерфейс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Вартість (рік)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~9840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~20500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~15000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EEF2FF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66928" cy="56692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програмування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читабельність,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Unicode-підтримка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43000"/>
            <a:ext cx="566928" cy="56692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133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41648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Веб-фреймворк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MTV-архітектура,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Admin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143000"/>
            <a:ext cx="566928" cy="5669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133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86016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3.45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файл db.sqlite3,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окремого сервера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566928" cy="5669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CSS-фреймворк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 верстка,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Український інтерфейс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1568" y="310896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41648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1.9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3749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Картографія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OpenStreetMap-тайли,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Безкоштовно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08776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EE2E2"/>
          </a:solidFill>
          <a:ln w="12700">
            <a:solidFill>
              <a:srgbClr val="DC3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5936" y="3108960"/>
            <a:ext cx="566928" cy="566928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86016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45936" y="3749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https://shtorm96.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pythonanywhere.com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— MTV (Model-Template-View)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8F4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509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URL-маршрутів  •  ~1400 рядків view-функцій (views.py + views_billing.py)  •  14 HTML-шаблонів  •  29 міграцій БД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88920" cy="3429000"/>
          </a:xfrm>
          <a:prstGeom prst="roundRect">
            <a:avLst>
              <a:gd name="adj" fmla="val 3279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64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2514600" cy="29260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infrastructure/models.py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ORM-класів (таблиць)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ForeignKey, OneToOne, ManyToMany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сигнали (post_save)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GenericIPAddressField для 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572768"/>
            <a:ext cx="2788920" cy="3429000"/>
          </a:xfrm>
          <a:prstGeom prst="roundRect">
            <a:avLst>
              <a:gd name="adj" fmla="val 3279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664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55848" y="2084832"/>
            <a:ext cx="2514600" cy="29260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templates/*.html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24871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HTML-шаблонів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base.html (32 КБ)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CDN + Bootstrap Icons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572768"/>
            <a:ext cx="2788920" cy="3429000"/>
          </a:xfrm>
          <a:prstGeom prst="roundRect">
            <a:avLst>
              <a:gd name="adj" fmla="val 3279"/>
            </a:avLst>
          </a:prstGeom>
          <a:solidFill>
            <a:srgbClr val="EEF2FF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1664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0216" y="2084832"/>
            <a:ext cx="2514600" cy="29260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views.py + views_billing.py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0216" y="24871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HTTP-обробники запитів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select_related / prefetch_related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на всіх 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XSS / SQLi захист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4952" y="3291840"/>
            <a:ext cx="219456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989320" y="3291840"/>
            <a:ext cx="219456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— ORM-моделі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18120" y="146304"/>
            <a:ext cx="1024128" cy="475488"/>
          </a:xfrm>
          <a:prstGeom prst="roundRect">
            <a:avLst>
              <a:gd name="adj" fmla="val 11538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46304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моделей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9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вузол мережевого обладнання, IP, MAC, координати, статус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179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1517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 → Equipment (FK), Tariff (FK); ONU, договір, адреса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665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83080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рахунок → Client (1:1, CASCADE); поточний баланс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ClientCredentials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26151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логін+пароль → Client (1:1, CASCADE)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63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83080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платіж → Client (FK); тип: topup/charge/promised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124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PromisedPayment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3712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обіцяний платіж → Client (FK); expires_at, is_active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611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83080" y="4261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тариф; ціна, швидкість, is_promo, dynamic_ip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93268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69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тікет клієнта → Client (FK); статус, пріоритет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48132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5179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ConnectionApplication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1517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підключення; адреса, тип, статус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02996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0665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EmergencyTask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аварійна задача ↔ Employee (ManyToMany)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57860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6151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26151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співробітник; ПІБ, посада, телефон, email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12724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163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WarehouseItem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0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на складі; категорія, одиниця, кількість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67588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7124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17920" y="3712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у магазині; ціна, кількість, фото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422452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2611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17920" y="4261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→ Product (FK); кількість, сума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477316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809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B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MessageLog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17920" y="4809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розсилань; тема, текст, кількість отримувачів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914400"/>
            <a:ext cx="0" cy="4069080"/>
          </a:xfrm>
          <a:prstGeom prst="line">
            <a:avLst/>
          </a:prstGeom>
          <a:noFill/>
          <a:ln w="12700">
            <a:solidFill>
              <a:srgbClr val="33446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— Сигнали та Management-команди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4041648"/>
          </a:xfrm>
          <a:prstGeom prst="roundRect">
            <a:avLst>
              <a:gd name="adj" fmla="val 1810"/>
            </a:avLst>
          </a:prstGeom>
          <a:solidFill>
            <a:srgbClr val="0D1B2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Сигнал — post_save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генерація RADIUS-даних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реєстрації кожного нового клієнта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114800" cy="2633472"/>
          </a:xfrm>
          <a:prstGeom prst="roundRect">
            <a:avLst>
              <a:gd name="adj" fmla="val 2083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74520"/>
            <a:ext cx="3977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generate_login():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 = ''.join(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random.choices(digits, k=7))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ClientCredentials.\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objects.filter(login=login).exists():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login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@receiver(post_save, sender=Client)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create_client_credentials(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sender, instance, created, **kwargs):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created: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ClientCredentials.objects\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.get_or_create(client=instance)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Account.objects.get_or_create(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client=instance)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4041648"/>
          </a:xfrm>
          <a:prstGeom prst="roundRect">
            <a:avLst>
              <a:gd name="adj" fmla="val 1810"/>
            </a:avLst>
          </a:prstGeom>
          <a:solidFill>
            <a:srgbClr val="0D1B2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Management-команди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023360" cy="1627632"/>
          </a:xfrm>
          <a:prstGeom prst="roundRect">
            <a:avLst>
              <a:gd name="adj" fmla="val 3371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179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monthly_charge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18288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Щомісячне нарахування абонплати;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автоблокування при від'ємному балансі;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клієнтів з обіцяним платежем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227832"/>
            <a:ext cx="4023360" cy="1627632"/>
          </a:xfrm>
          <a:prstGeom prst="roundRect">
            <a:avLst>
              <a:gd name="adj" fmla="val 3371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300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generate_billing_data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28032" y="36118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тестових даних через Faker;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реальні вулиці Василькова;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1000-5000 клієнтів для навантажень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4654296"/>
            <a:ext cx="4023360" cy="292608"/>
          </a:xfrm>
          <a:prstGeom prst="roundRect">
            <a:avLst>
              <a:gd name="adj" fmla="val 125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cron: 0 9 1 * * python manage.py monthly_charge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— Адміністративний інтерфейс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57607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777240"/>
            <a:ext cx="2633472" cy="3657600"/>
          </a:xfrm>
          <a:prstGeom prst="roundRect">
            <a:avLst>
              <a:gd name="adj" fmla="val 2778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7648" y="868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Можливості Admin: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27648" y="1261872"/>
            <a:ext cx="24231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15 моделей у панелі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list_display з ключовими полями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search_fields — пошук по БД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list_filter — фільтри за статусом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та світлий режими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тікети у Tickets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для масових змін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аудиторна стежка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3822192"/>
            <a:ext cx="5760720" cy="512064"/>
          </a:xfrm>
          <a:prstGeom prst="roundRect">
            <a:avLst>
              <a:gd name="adj" fmla="val 8929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85876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— автоматично генерується з models.py  •  Не потребує додаткового коду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панель управління —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карток статистики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Клієнти загально/ активні/блоковані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Обладнання онлайн/офлайн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Критичні аварії (live)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Оперативні заявки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Таблиці останніх подій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абонентів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з пагінацією 50/стор.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за ПІБ, договором, ONU, адресою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Фільтр: Всі / Активні / Заблоковані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Серійний номер ONU видно в таблиці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«Додати абонента»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Відображення статусу online/offline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клієнта — деталі абонента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/clients/&lt;id&gt;/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6446520" cy="3246120"/>
          </a:xfrm>
          <a:prstGeom prst="roundRect">
            <a:avLst>
              <a:gd name="adj" fmla="val 2817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ВСТАВТЕ СКРІН КАРТКИ КЛІЄНТА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65176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client_detail.html — деталі клієнта, баланс, облікові дані, платежі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ПІБ, договір, адреса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(кольор. кодування)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логін+пароль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Тарифний план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Поповнити / Заблокувати / Обіцяний платіж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всіх платежів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тікетів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Білінгова система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/billing/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баланс: 116 200 грн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Поповнень цього місяця: 122 116 грн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заблокованих / 39 з боргом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Кольорове кодування (зелений/червоний)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Фільтр: Активні / Заблоковані / Борг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Обіцяний платіж → auto-розблокування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покриття та інфраструктури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/network-map/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Зелені маркери — обладнання онлайн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Червоні маркери — обладнання офлайн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Помаранчеві — аварійні задачі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при кліці: IP, адреса, статус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 охоплення вузлів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Тарифні плани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09560" y="146304"/>
            <a:ext cx="960120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1463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/tariffs/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6446520" cy="3246120"/>
          </a:xfrm>
          <a:prstGeom prst="roundRect">
            <a:avLst>
              <a:gd name="adj" fmla="val 2817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ВСТАВТЕ СКРІН ТАРИФНИХ ПЛАНІВ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16352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8712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Легкий Старт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3163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грн/міс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34564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100 Мбіт/с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6232" y="2816352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8712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Вигідний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74520" y="3163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грн/міс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4564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100 Мбіт/с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38144" y="2816352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8712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Оптимальний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6432" y="3163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 грн/міс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34564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200 Мбіт/с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0056" y="2816352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28712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Максимальний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38344" y="31638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 грн/міс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38344" y="34564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1000 Мбіт/с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тарифних плани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99–399 грн/міс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100–1000 Мбіт/с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Прапорці: is_promo, dynamic_ip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Плата за підключення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Зв'язок з Client через FK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 компанії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/personnel/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активних співробітників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Картки з аватаром-ініціалами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та телефон кожного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«Активний»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 на аварійні задачі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ManyToMany: EmergencyTask↔Employee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завдань та робіт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вкладки: Нові / В роботі / Архів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АВАРІЯ — червоний бейдж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Виконавці з іменем монтажника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об'єкта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 по задачі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Кнопки: Виконано / Зроблено / Відміна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Аварія / Обрив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46304"/>
            <a:ext cx="1024128" cy="347472"/>
          </a:xfrm>
          <a:prstGeom prst="roundRect">
            <a:avLst>
              <a:gd name="adj" fmla="val 10526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4630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Критично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8503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відкриває форму реєстрації аварії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261872"/>
            <a:ext cx="0" cy="155448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9903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" y="141732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44475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Вводить місто, вулицю, адресу, опис проблеми, координати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1856232"/>
            <a:ext cx="0" cy="155448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99339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201168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03911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Обирає виконавців зі списку активних співробітників (1 або декілька)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" y="2450592"/>
            <a:ext cx="0" cy="155448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8775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" y="260604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63347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зберігає EmergencyTask зі статусом 'new'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3044952"/>
            <a:ext cx="0" cy="155448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18211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" y="320040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22783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карті з'являється помаранчевий маркер аварії з popup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" y="3639312"/>
            <a:ext cx="0" cy="155448"/>
          </a:xfrm>
          <a:prstGeom prst="line">
            <a:avLst/>
          </a:prstGeom>
          <a:noFill/>
          <a:ln w="19050">
            <a:solidFill>
              <a:srgbClr val="DC3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76472"/>
            <a:ext cx="438912" cy="43891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4672" y="3794760"/>
            <a:ext cx="8046720" cy="402336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8221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Виконавці виїжджають → оновлюють статус на 'done'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617720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1E2A4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36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ManyToMany  •  зв'язок EmergencyTask ↔ Employee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18688" y="4617720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1E2A4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636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Geo-coord  •  координати аварії на карті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4617720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1E2A4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4636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↓  •  скорочення часу відновлення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обладнання та магазин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146304"/>
            <a:ext cx="80467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463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/warehouse/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49808"/>
            <a:ext cx="6446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вкладки: Склад / Магазин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TP-LINK, Mikrotik, Asus у каталозі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Ціни та кількість у наявності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«Видати в роботу»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WarehouseItem — матеріали для монтажу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товари для продажу клієнтам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Повідомлення клієнтам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46304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4630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/messages/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6446520" cy="3246120"/>
          </a:xfrm>
          <a:prstGeom prst="roundRect">
            <a:avLst>
              <a:gd name="adj" fmla="val 2817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ВСТАВТЕ СКРІН ПОВІДОМЛЕНЬ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633472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messages.html — масова розсилка клієнтам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749808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822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67728" y="1170432"/>
            <a:ext cx="179222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Масова розсилка всім клієнтам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та текст повідомлення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 отримувачів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MessageLog — журнал розсилань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та автор кожної розсилки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та верифікація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Тестових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перевірок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96312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9875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496312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Дефектів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72584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9875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72584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Дефектів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усунено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48856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9875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848856" y="1627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Помилок при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паралельних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2606037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Категорія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Успішно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Дефектів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Усунено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Модульне (Unit)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Функціональне (основне)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Функціональне (граничне)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Інтеграційне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(Desktop+Mobile)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Безпека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продуктивності системи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60120"/>
          <a:ext cx="53949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960120"/>
          <a:ext cx="2971800" cy="16916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Сторінка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Сер. час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клієнтів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Білінг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 мс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251460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89320" y="2560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Вимога НФВ-1 виконана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час: 185 мс &lt; порогу 2000 мс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(у 10 разів нижче)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897880" y="3456432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EEF2FF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89320" y="3529584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Навантажувальний тест: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Benchmark — 50 одночасних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запитів / жодної помилки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База: 3000 клієнтів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відгук: 176–321 мс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9264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932688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9692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аналіз предметної галузі ISP-бізнесу, технологій PON/GPON, RADIUS-аутентифікації та порівняно 4 аналоги (WHMCS, SolarWinds, Zabbix, UTM5)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591056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2763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реляційну модель БД з 15 таблиць (ForeignKey, OneToOne, ManyToMany); схема пройшла 29 міграцій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249424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28600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повнофункціональну систему: 15 ORM-моделей, 17 URL-маршрутів, ~1400 рядків view-функцій, 14 HTML-шаблонів, 2 management-команди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907792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94436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комплексне тестування: 76+ перевірок за 6 категоріями; виявлено та усунено 7 дефектів; всі сценарії успішно пройшли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566160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60273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Максимальний час відповіді — 185 мс при 3000 клієнтів (поріг НФВ-1: 2000 мс); 0 помилок при 50 паралельних запитах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61104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224528"/>
            <a:ext cx="8001000" cy="566928"/>
          </a:xfrm>
          <a:prstGeom prst="roundRect">
            <a:avLst>
              <a:gd name="adj" fmla="val 8065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26110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розгорнута на PythonAnywhere, є україномовною, безкоштовною та може бути впроваджена будь-яким регіональним провайдером України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демо та вихідний код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5123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Живий сайт: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789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https://shtorm96.pythonanywhere.com/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  •  pass: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2860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https://github.com/shtorm96/UICMANAGER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8595360" cy="1901952"/>
          </a:xfrm>
          <a:prstGeom prst="roundRect">
            <a:avLst>
              <a:gd name="adj" fmla="val 4808"/>
            </a:avLst>
          </a:prstGeom>
          <a:solidFill>
            <a:srgbClr val="1E2A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 розвитку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Mikrotik RouterOS API — автоматичний моніторинг online/offline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(Django REST Framework) + мобільний застосунок для технічних фахівців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— сповіщення операторів про нові заявки та аварії в реальному часі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кабінет абонента — перегляд балансу та оплата онлайн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7452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43800" y="475488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754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2511</Words>
  <Application>Microsoft Office PowerPoint</Application>
  <PresentationFormat>Екран (16:9)</PresentationFormat>
  <Paragraphs>498</Paragraphs>
  <Slides>23</Slides>
  <Notes>23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UIC Manager — Захист дипломної роботи</dc:title>
  <dc:subject>PptxGenJS Presentation</dc:subject>
  <dc:creator>Тромса Дмитро Сергійович</dc:creator>
  <cp:lastModifiedBy>dimator126@gmail.com</cp:lastModifiedBy>
  <cp:revision>2</cp:revision>
  <dcterms:created xsi:type="dcterms:W3CDTF">2026-06-18T17:13:54Z</dcterms:created>
  <dcterms:modified xsi:type="dcterms:W3CDTF">2026-06-21T20:33:15Z</dcterms:modified>
</cp:coreProperties>
</file>